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28E89A-5BF9-45DC-BE5F-E67E960435C1}" v="2" dt="2026-10-04T18:29:45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tik shrma" userId="c0230aafc764fad3" providerId="LiveId" clId="{502D8122-444E-4DD3-A8D1-73AF98A87935}"/>
    <pc:docChg chg="modSld">
      <pc:chgData name="kritik shrma" userId="c0230aafc764fad3" providerId="LiveId" clId="{502D8122-444E-4DD3-A8D1-73AF98A87935}" dt="2026-10-04T18:29:26.645" v="0"/>
      <pc:docMkLst>
        <pc:docMk/>
      </pc:docMkLst>
      <pc:sldChg chg="modSp">
        <pc:chgData name="kritik shrma" userId="c0230aafc764fad3" providerId="LiveId" clId="{502D8122-444E-4DD3-A8D1-73AF98A87935}" dt="2026-10-04T18:29:26.645" v="0"/>
        <pc:sldMkLst>
          <pc:docMk/>
          <pc:sldMk cId="0" sldId="266"/>
        </pc:sldMkLst>
        <pc:spChg chg="mod">
          <ac:chgData name="kritik shrma" userId="c0230aafc764fad3" providerId="LiveId" clId="{502D8122-444E-4DD3-A8D1-73AF98A87935}" dt="2026-10-04T18:29:26.645" v="0"/>
          <ac:spMkLst>
            <pc:docMk/>
            <pc:sldMk cId="0" sldId="266"/>
            <ac:spMk id="10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tkrshm/agentic-retrieva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tkrshm/agentic-retrieva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oom.com/share/d2efb905b1b04ebb873c2b4f3b7672c1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tkrshm/agentic-retrieva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2026 - 27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66928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3736" indent="-17373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8"/>
              </a:buClr>
              <a:buSzPct val="100000"/>
              <a:buFont typeface="Arial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Theme ID - </a:t>
            </a:r>
            <a:r>
              <a:rPr lang="en-US" sz="16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01 · Agentic Code Intelligence</a:t>
            </a:r>
            <a:endParaRPr lang="en-US" sz="1600" dirty="0"/>
          </a:p>
          <a:p>
            <a:pPr marL="173736" indent="-17373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B5B78"/>
              </a:buClr>
              <a:buSzPct val="100000"/>
              <a:buFont typeface="Arial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Project - </a:t>
            </a:r>
            <a:r>
              <a:rPr lang="en-US" sz="16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Agentic Code Retrieval</a:t>
            </a:r>
            <a:endParaRPr lang="en-US" sz="1600" dirty="0"/>
          </a:p>
          <a:p>
            <a:pPr marL="173736" indent="-17373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B5B78"/>
              </a:buClr>
              <a:buSzPct val="100000"/>
              <a:buFont typeface="Arial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Team Name - </a:t>
            </a:r>
            <a:r>
              <a:rPr lang="en-US" sz="16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SundayWasters</a:t>
            </a:r>
            <a:endParaRPr lang="en-US" sz="1600" dirty="0"/>
          </a:p>
          <a:p>
            <a:pPr marL="173736" indent="-17373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B5B78"/>
              </a:buClr>
              <a:buSzPct val="100000"/>
              <a:buFont typeface="Arial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College Name - </a:t>
            </a:r>
            <a:r>
              <a:rPr lang="en-US" sz="16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VIT Vellore</a:t>
            </a:r>
            <a:endParaRPr lang="en-US" sz="1600" dirty="0"/>
          </a:p>
          <a:p>
            <a:pPr marL="173736" indent="-17373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B5B78"/>
              </a:buClr>
              <a:buSzPct val="100000"/>
              <a:buFont typeface="Arial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Member 1 - </a:t>
            </a:r>
            <a:r>
              <a:rPr lang="en-US" sz="16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Utkarsh Malaiya · malaiya.utkarsh@gmail.com</a:t>
            </a:r>
            <a:endParaRPr lang="en-US" sz="1600" dirty="0"/>
          </a:p>
          <a:p>
            <a:pPr marL="173736" indent="-17373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B5B78"/>
              </a:buClr>
              <a:buSzPct val="100000"/>
              <a:buFont typeface="Arial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Member 2 - </a:t>
            </a:r>
            <a:r>
              <a:rPr lang="en-US" sz="16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Kritik Sharma · kritik.sh17@gmail.com</a:t>
            </a:r>
            <a:endParaRPr lang="en-US" sz="1600" dirty="0"/>
          </a:p>
          <a:p>
            <a:pPr marL="173736" indent="-17373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B5B78"/>
              </a:buClr>
              <a:buSzPct val="100000"/>
              <a:buFont typeface="Arial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Member 3 - </a:t>
            </a:r>
            <a:r>
              <a:rPr lang="en-US" sz="16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Deep Arjit Prasad · deeparjitprasad@gmail.com</a:t>
            </a:r>
            <a:endParaRPr lang="en-US" sz="1600" dirty="0"/>
          </a:p>
          <a:p>
            <a:pPr marL="173736" indent="-17373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B5B78"/>
              </a:buClr>
              <a:buSzPct val="100000"/>
              <a:buFont typeface="Arial"/>
              <a:buChar char="•"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Submission GitHub link - </a:t>
            </a:r>
            <a:r>
              <a:rPr lang="en-US" sz="1600" b="0" i="0" dirty="0">
                <a:solidFill>
                  <a:srgbClr val="1D4ED8"/>
                </a:solidFill>
                <a:latin typeface="Calibri"/>
                <a:ea typeface="Calibri"/>
                <a:cs typeface="Calibri"/>
                <a:hlinkClick r:id="rId3"/>
              </a:rPr>
              <a:t>github.com/utkrshm/agentic-retrieval</a:t>
            </a:r>
            <a:endParaRPr lang="en-US" sz="1600" dirty="0"/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Theme 01 · Agentic Code Intelligence</a:t>
            </a:r>
            <a:endParaRPr lang="en-US" sz="3200" dirty="0"/>
          </a:p>
        </p:txBody>
      </p:sp>
      <p:sp>
        <p:nvSpPr>
          <p:cNvPr id="1001" name="Problem card"/>
          <p:cNvSpPr/>
          <p:nvPr/>
        </p:nvSpPr>
        <p:spPr>
          <a:xfrm>
            <a:off x="548640" y="1325880"/>
            <a:ext cx="64008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2" name="Label THE PROBLEM, IN OUR WORDS"/>
          <p:cNvSpPr txBox="1"/>
          <p:nvPr/>
        </p:nvSpPr>
        <p:spPr>
          <a:xfrm>
            <a:off x="868680" y="160020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THE PROBLEM, IN OUR WORDS</a:t>
            </a:r>
            <a:endParaRPr lang="en-US" sz="1400" dirty="0"/>
          </a:p>
        </p:txBody>
      </p:sp>
      <p:sp>
        <p:nvSpPr>
          <p:cNvPr id="1003" name="Problem text"/>
          <p:cNvSpPr txBox="1"/>
          <p:nvPr/>
        </p:nvSpPr>
        <p:spPr>
          <a:xfrm>
            <a:off x="868680" y="1965960"/>
            <a:ext cx="576072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A developer or an AI agent asks a question in plain English. The answer is somewhere in thousands of code snippets, far more than any LLM context window can hold.</a:t>
            </a:r>
            <a:endParaRPr lang="en-US" sz="1800" dirty="0"/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We rank those snippets so the right one lands in the top few results: fast, on an ordinary CPU, and still correct after the code changes.</a:t>
            </a:r>
            <a:endParaRPr lang="en-US" sz="1600" dirty="0"/>
          </a:p>
        </p:txBody>
      </p:sp>
      <p:sp>
        <p:nvSpPr>
          <p:cNvPr id="1004" name="Example panel"/>
          <p:cNvSpPr/>
          <p:nvPr/>
        </p:nvSpPr>
        <p:spPr>
          <a:xfrm>
            <a:off x="868680" y="4160520"/>
            <a:ext cx="5760720" cy="1965960"/>
          </a:xfrm>
          <a:prstGeom prst="roundRect">
            <a:avLst>
              <a:gd name="adj" fmla="val 8000"/>
            </a:avLst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5" name="Label EXAMPLE · BROWSEROS, LABELLED BY US"/>
          <p:cNvSpPr txBox="1"/>
          <p:nvPr/>
        </p:nvSpPr>
        <p:spPr>
          <a:xfrm>
            <a:off x="1097280" y="43159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EXAMPLE · BROWSEROS, LABELLED BY US</a:t>
            </a:r>
            <a:endParaRPr lang="en-US" sz="1400" dirty="0"/>
          </a:p>
        </p:txBody>
      </p:sp>
      <p:sp>
        <p:nvSpPr>
          <p:cNvPr id="1006" name="Example query"/>
          <p:cNvSpPr txBox="1"/>
          <p:nvPr/>
        </p:nvSpPr>
        <p:spPr>
          <a:xfrm>
            <a:off x="1097280" y="4617720"/>
            <a:ext cx="53492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Query  </a:t>
            </a:r>
            <a:r>
              <a:rPr lang="en-US" sz="1300" b="0" i="1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“How are overlapping screenshot captures on the same page serialized so annotation overlays do not collide?”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Answer  </a:t>
            </a:r>
            <a:r>
              <a:rPr lang="en-US" sz="1200" b="1" i="0" dirty="0">
                <a:solidFill>
                  <a:srgbClr val="14142B"/>
                </a:solidFill>
                <a:latin typeface="Courier New"/>
                <a:ea typeface="Courier New"/>
                <a:cs typeface="Courier New"/>
              </a:rPr>
              <a:t>runExclusiveScreenshotCapture()</a:t>
            </a:r>
            <a:endParaRPr lang="en-US" sz="1400" dirty="0"/>
          </a:p>
          <a:p>
            <a:pPr marL="65836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5B78"/>
                </a:solidFill>
                <a:latin typeface="Courier New"/>
                <a:ea typeface="Courier New"/>
                <a:cs typeface="Courier New"/>
              </a:rPr>
              <a:t>browser-core/src/core/screenshot-queue.ts : 6-27</a:t>
            </a:r>
            <a:endParaRPr lang="en-US" sz="1400" dirty="0"/>
          </a:p>
        </p:txBody>
      </p:sp>
      <p:sp>
        <p:nvSpPr>
          <p:cNvPr id="1007" name="Goal P0"/>
          <p:cNvSpPr/>
          <p:nvPr/>
        </p:nvSpPr>
        <p:spPr>
          <a:xfrm>
            <a:off x="7223760" y="1325880"/>
            <a:ext cx="441655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8" name="Goal tag P0"/>
          <p:cNvSpPr/>
          <p:nvPr/>
        </p:nvSpPr>
        <p:spPr>
          <a:xfrm>
            <a:off x="7452360" y="15087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P0</a:t>
            </a:r>
            <a:endParaRPr lang="en-US" sz="1400" dirty="0"/>
          </a:p>
        </p:txBody>
      </p:sp>
      <p:sp>
        <p:nvSpPr>
          <p:cNvPr id="1009" name="Goal head P0"/>
          <p:cNvSpPr txBox="1"/>
          <p:nvPr/>
        </p:nvSpPr>
        <p:spPr>
          <a:xfrm>
            <a:off x="8458200" y="1472184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Retrieval accuracy</a:t>
            </a:r>
            <a:endParaRPr lang="en-US" sz="1400" dirty="0"/>
          </a:p>
        </p:txBody>
      </p:sp>
      <p:sp>
        <p:nvSpPr>
          <p:cNvPr id="1010" name="Goal body P0"/>
          <p:cNvSpPr txBox="1"/>
          <p:nvPr/>
        </p:nvSpPr>
        <p:spPr>
          <a:xfrm>
            <a:off x="7452360" y="1874520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Rank snippets for a query. Screened by NDCG@10 and MRR on CoIR AppsRetrieval test (3,765 queries, 8,765 programs).</a:t>
            </a:r>
            <a:endParaRPr lang="en-US" sz="1400" dirty="0"/>
          </a:p>
        </p:txBody>
      </p:sp>
      <p:sp>
        <p:nvSpPr>
          <p:cNvPr id="1011" name="Goal P1"/>
          <p:cNvSpPr/>
          <p:nvPr/>
        </p:nvSpPr>
        <p:spPr>
          <a:xfrm>
            <a:off x="7223760" y="2743200"/>
            <a:ext cx="441655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2" name="Goal tag P1"/>
          <p:cNvSpPr/>
          <p:nvPr/>
        </p:nvSpPr>
        <p:spPr>
          <a:xfrm>
            <a:off x="7452360" y="29260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P1</a:t>
            </a:r>
            <a:endParaRPr lang="en-US" sz="1400" dirty="0"/>
          </a:p>
        </p:txBody>
      </p:sp>
      <p:sp>
        <p:nvSpPr>
          <p:cNvPr id="1013" name="Goal head P1"/>
          <p:cNvSpPr txBox="1"/>
          <p:nvPr/>
        </p:nvSpPr>
        <p:spPr>
          <a:xfrm>
            <a:off x="8458200" y="2889504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Retrieval across versions</a:t>
            </a:r>
            <a:endParaRPr lang="en-US" sz="1400" dirty="0"/>
          </a:p>
        </p:txBody>
      </p:sp>
      <p:sp>
        <p:nvSpPr>
          <p:cNvPr id="1014" name="Goal body P1"/>
          <p:cNvSpPr txBox="1"/>
          <p:nvPr/>
        </p:nvSpPr>
        <p:spPr>
          <a:xfrm>
            <a:off x="7452360" y="3291840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Rebuild indexes and caches for any commit in a reasonable time.</a:t>
            </a:r>
            <a:endParaRPr lang="en-US" sz="1400" dirty="0"/>
          </a:p>
        </p:txBody>
      </p:sp>
      <p:sp>
        <p:nvSpPr>
          <p:cNvPr id="1015" name="Goal BONUS"/>
          <p:cNvSpPr/>
          <p:nvPr/>
        </p:nvSpPr>
        <p:spPr>
          <a:xfrm>
            <a:off x="7223760" y="4160520"/>
            <a:ext cx="4416552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6" name="Goal tag BONUS"/>
          <p:cNvSpPr/>
          <p:nvPr/>
        </p:nvSpPr>
        <p:spPr>
          <a:xfrm>
            <a:off x="7452360" y="43434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BONUS</a:t>
            </a:r>
            <a:endParaRPr lang="en-US" sz="1400" dirty="0"/>
          </a:p>
        </p:txBody>
      </p:sp>
      <p:sp>
        <p:nvSpPr>
          <p:cNvPr id="1017" name="Goal head BONUS"/>
          <p:cNvSpPr txBox="1"/>
          <p:nvPr/>
        </p:nvSpPr>
        <p:spPr>
          <a:xfrm>
            <a:off x="8458200" y="4306824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Evolutionary retrieval</a:t>
            </a:r>
            <a:endParaRPr lang="en-US" sz="1400" dirty="0"/>
          </a:p>
        </p:txBody>
      </p:sp>
      <p:sp>
        <p:nvSpPr>
          <p:cNvPr id="1018" name="Goal body BONUS"/>
          <p:cNvSpPr txBox="1"/>
          <p:nvPr/>
        </p:nvSpPr>
        <p:spPr>
          <a:xfrm>
            <a:off x="7452360" y="4709160"/>
            <a:ext cx="39776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Search every version at once, even though near-identical snippets are hard to rank.</a:t>
            </a:r>
            <a:endParaRPr lang="en-US" sz="1400" dirty="0"/>
          </a:p>
        </p:txBody>
      </p:sp>
      <p:sp>
        <p:nvSpPr>
          <p:cNvPr id="1019" name="Constraints"/>
          <p:cNvSpPr/>
          <p:nvPr/>
        </p:nvSpPr>
        <p:spPr>
          <a:xfrm>
            <a:off x="7223760" y="5577840"/>
            <a:ext cx="4416552" cy="822960"/>
          </a:xfrm>
          <a:prstGeom prst="roundRect">
            <a:avLst>
              <a:gd name="adj" fmla="val 10000"/>
            </a:avLst>
          </a:prstGeom>
          <a:solidFill>
            <a:srgbClr val="FDEEE6"/>
          </a:solidFill>
          <a:ln>
            <a:noFill/>
          </a:ln>
        </p:spPr>
        <p:txBody>
          <a:bodyPr wrap="square" lIns="228600" tIns="91440" rIns="18288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b="1" i="0" spc="15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OUR CONSTRAINTS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CPU-only query path · local open-weight models · retrieval only, no generation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Existing Solutions &amp; Gaps</a:t>
            </a:r>
            <a:endParaRPr lang="en-US" sz="3200" dirty="0"/>
          </a:p>
        </p:txBody>
      </p:sp>
      <p:graphicFrame>
        <p:nvGraphicFramePr>
          <p:cNvPr id="1001" name="Approaches table"/>
          <p:cNvGraphicFramePr>
            <a:graphicFrameLocks noGrp="1"/>
          </p:cNvGraphicFramePr>
          <p:nvPr/>
        </p:nvGraphicFramePr>
        <p:xfrm>
          <a:off x="548640" y="1371600"/>
          <a:ext cx="7086600" cy="5029200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6D28D9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  <a:endParaRPr lang="en-US" sz="11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6D28D9"/>
                          </a:solidFill>
                          <a:latin typeface="Arial"/>
                          <a:ea typeface="Arial"/>
                          <a:cs typeface="Arial"/>
                        </a:rPr>
                        <a:t>Good at</a:t>
                      </a:r>
                      <a:endParaRPr lang="en-US" sz="11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solidFill>
                            <a:srgbClr val="6D28D9"/>
                          </a:solidFill>
                          <a:latin typeface="Arial"/>
                          <a:ea typeface="Arial"/>
                          <a:cs typeface="Arial"/>
                        </a:rPr>
                        <a:t>Where it falls short</a:t>
                      </a:r>
                      <a:endParaRPr lang="en-US" sz="11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Keyword search (BM25)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Exact names and error strings; instant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Misses paraphrases. Even gated, it costs ~11 NDCG@10 on the benchmark's problem statements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Ask an LLM to read the code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Understands intent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A repository does not fit in its context window; slow and GPU-bound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Code embedder alone (jina-code)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Ranks the right unit first most often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Literal queries rank low: install_not_allowed first hit at rank 7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General embedder alone (Gemma)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Best candidate pool: 84.28 NDCG@10 on AppsRetrieval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Puts the right unit first less often (Recall@1 0.06 lower on both repos)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Cross-encoder reranker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Reads query and code together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Qwen3-Reranker-0.6B scores below its own embedder on MTEB-Code; ~1.5 to 5 s per query on CPU (est.)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2" name="Gap card"/>
          <p:cNvSpPr/>
          <p:nvPr/>
        </p:nvSpPr>
        <p:spPr>
          <a:xfrm>
            <a:off x="7909560" y="1371600"/>
            <a:ext cx="3730752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3" name="Label MEASURED GAP"/>
          <p:cNvSpPr txBox="1"/>
          <p:nvPr/>
        </p:nvSpPr>
        <p:spPr>
          <a:xfrm>
            <a:off x="8183880" y="1600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MEASURED GAP</a:t>
            </a:r>
            <a:endParaRPr lang="en-US" sz="1400" dirty="0"/>
          </a:p>
        </p:txBody>
      </p:sp>
      <p:sp>
        <p:nvSpPr>
          <p:cNvPr id="1004" name="Gap head"/>
          <p:cNvSpPr txBox="1"/>
          <p:nvPr/>
        </p:nvSpPr>
        <p:spPr>
          <a:xfrm>
            <a:off x="8183880" y="19202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Neither model wins alone</a:t>
            </a:r>
            <a:endParaRPr lang="en-US" sz="1400" dirty="0"/>
          </a:p>
        </p:txBody>
      </p:sp>
      <p:sp>
        <p:nvSpPr>
          <p:cNvPr id="1005" name="Gap value 1.00"/>
          <p:cNvSpPr txBox="1"/>
          <p:nvPr/>
        </p:nvSpPr>
        <p:spPr>
          <a:xfrm>
            <a:off x="8183880" y="2423160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1.00</a:t>
            </a:r>
            <a:endParaRPr lang="en-US" sz="1400" dirty="0"/>
          </a:p>
        </p:txBody>
      </p:sp>
      <p:sp>
        <p:nvSpPr>
          <p:cNvPr id="1006" name="Gap text 1.00"/>
          <p:cNvSpPr txBox="1"/>
          <p:nvPr/>
        </p:nvSpPr>
        <p:spPr>
          <a:xfrm>
            <a:off x="9281160" y="242316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Gemma Recall@10 on both repos: it finds the answer</a:t>
            </a:r>
            <a:endParaRPr lang="en-US" sz="1400" dirty="0"/>
          </a:p>
        </p:txBody>
      </p:sp>
      <p:sp>
        <p:nvSpPr>
          <p:cNvPr id="1007" name="Gap value 0.78"/>
          <p:cNvSpPr txBox="1"/>
          <p:nvPr/>
        </p:nvSpPr>
        <p:spPr>
          <a:xfrm>
            <a:off x="8183880" y="3154680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0.78</a:t>
            </a:r>
            <a:endParaRPr lang="en-US" sz="1400" dirty="0"/>
          </a:p>
        </p:txBody>
      </p:sp>
      <p:sp>
        <p:nvSpPr>
          <p:cNvPr id="1008" name="Gap text 0.78"/>
          <p:cNvSpPr txBox="1"/>
          <p:nvPr/>
        </p:nvSpPr>
        <p:spPr>
          <a:xfrm>
            <a:off x="9281160" y="315468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jina-code Recall@1 on Node-RED (Gemma 0.72): it ranks the answer</a:t>
            </a:r>
            <a:endParaRPr lang="en-US" sz="1400" dirty="0"/>
          </a:p>
        </p:txBody>
      </p:sp>
      <p:sp>
        <p:nvSpPr>
          <p:cNvPr id="1009" name="Label WHAT WE SET OUT TO FIX"/>
          <p:cNvSpPr txBox="1"/>
          <p:nvPr/>
        </p:nvSpPr>
        <p:spPr>
          <a:xfrm>
            <a:off x="8183880" y="4023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WHAT WE SET OUT TO FIX</a:t>
            </a:r>
            <a:endParaRPr lang="en-US" sz="1400" dirty="0"/>
          </a:p>
        </p:txBody>
      </p:sp>
      <p:sp>
        <p:nvSpPr>
          <p:cNvPr id="1010" name="Fix list"/>
          <p:cNvSpPr txBox="1"/>
          <p:nvPr/>
        </p:nvSpPr>
        <p:spPr>
          <a:xfrm>
            <a:off x="8183880" y="4343400"/>
            <a:ext cx="329184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1168" indent="-20116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4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Keep Gemma's pool and jina's ordering</a:t>
            </a:r>
            <a:endParaRPr lang="en-US" sz="1400" dirty="0"/>
          </a:p>
          <a:p>
            <a:pPr marL="201168" indent="-2011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4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Exact names without hurting prose questions</a:t>
            </a:r>
            <a:endParaRPr lang="en-US" sz="1400" dirty="0"/>
          </a:p>
          <a:p>
            <a:pPr marL="201168" indent="-2011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4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Small units with file:line</a:t>
            </a:r>
            <a:endParaRPr lang="en-US" sz="1400" dirty="0"/>
          </a:p>
          <a:p>
            <a:pPr marL="201168" indent="-2011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4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Fast enough on a laptop CPU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Our Solutions &amp; Architecture Diagram</a:t>
            </a:r>
            <a:endParaRPr lang="en-US" sz="3200" dirty="0"/>
          </a:p>
        </p:txBody>
      </p:sp>
      <p:sp>
        <p:nvSpPr>
          <p:cNvPr id="1001" name="Lane offline"/>
          <p:cNvSpPr/>
          <p:nvPr/>
        </p:nvSpPr>
        <p:spPr>
          <a:xfrm>
            <a:off x="548640" y="1298448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OFFLINE · INDEX A REPOSITORY (GPU OPTIONAL)</a:t>
            </a:r>
            <a:endParaRPr lang="en-US" sz="1400" dirty="0"/>
          </a:p>
        </p:txBody>
      </p:sp>
      <p:sp>
        <p:nvSpPr>
          <p:cNvPr id="1002" name="Box GitHub repository"/>
          <p:cNvSpPr/>
          <p:nvPr/>
        </p:nvSpPr>
        <p:spPr>
          <a:xfrm>
            <a:off x="548640" y="173736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GitHub repository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Shallow clone of one commit; tracked files only; dist, build, vendor and minified files skipped</a:t>
            </a:r>
            <a:endParaRPr lang="en-US" sz="1100" dirty="0"/>
          </a:p>
        </p:txBody>
      </p:sp>
      <p:sp>
        <p:nvSpPr>
          <p:cNvPr id="1003" name="Box Tree-sitter chunker"/>
          <p:cNvSpPr/>
          <p:nvPr/>
        </p:nvSpPr>
        <p:spPr>
          <a:xfrm>
            <a:off x="2825496" y="173736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Tree-sitter chunker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Python, JS, TS, TSX into functions, methods, class headers and statement groups (≤ 2,500 chars), exact file:line</a:t>
            </a:r>
            <a:endParaRPr lang="en-US" sz="1100" dirty="0"/>
          </a:p>
        </p:txBody>
      </p:sp>
      <p:sp>
        <p:nvSpPr>
          <p:cNvPr id="1004" name="Box Two encoders, one cache"/>
          <p:cNvSpPr/>
          <p:nvPr/>
        </p:nvSpPr>
        <p:spPr>
          <a:xfrm>
            <a:off x="5102352" y="173736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Two encoders, one cache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EmbeddingGemma-300m (768-d) and jina-code-0.5b (896-d), fp32. Only cache misses are embedded</a:t>
            </a:r>
            <a:endParaRPr lang="en-US" sz="1100" dirty="0"/>
          </a:p>
        </p:txBody>
      </p:sp>
      <p:sp>
        <p:nvSpPr>
          <p:cNvPr id="1005" name="Box Three indexes"/>
          <p:cNvSpPr/>
          <p:nvPr/>
        </p:nvSpPr>
        <p:spPr>
          <a:xfrm>
            <a:off x="7379208" y="173736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Three indexes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FAISS A (Gemma) and B (jina): exact, identical units in the same order. BM25 in memory</a:t>
            </a:r>
            <a:endParaRPr lang="en-US" sz="1100" dirty="0"/>
          </a:p>
        </p:txBody>
      </p:sp>
      <p:sp>
        <p:nvSpPr>
          <p:cNvPr id="1006" name="Box Benchmark path"/>
          <p:cNvSpPr/>
          <p:nvPr/>
        </p:nvSpPr>
        <p:spPr>
          <a:xfrm>
            <a:off x="9656064" y="173736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F7F6FB"/>
          </a:solidFill>
          <a:ln w="12700">
            <a:solidFill>
              <a:srgbClr val="6D28D9"/>
            </a:solidFill>
            <a:prstDash val="dash"/>
          </a:ln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Benchmark path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MTEB AppsRetrieval through PrePostPipelineEncoder: a plain encoder, no BM25 and no re-scoring</a:t>
            </a:r>
            <a:endParaRPr lang="en-US" sz="1100" dirty="0"/>
          </a:p>
        </p:txBody>
      </p:sp>
      <p:cxnSp>
        <p:nvCxnSpPr>
          <p:cNvPr id="1007" name="Arrow offline 0"/>
          <p:cNvCxnSpPr/>
          <p:nvPr/>
        </p:nvCxnSpPr>
        <p:spPr>
          <a:xfrm>
            <a:off x="2542032" y="2446020"/>
            <a:ext cx="246888" cy="0"/>
          </a:xfrm>
          <a:prstGeom prst="straightConnector1">
            <a:avLst/>
          </a:prstGeom>
          <a:ln w="19050">
            <a:solidFill>
              <a:srgbClr val="A7A3C4"/>
            </a:solidFill>
            <a:tailEnd type="triangle" w="med" len="med"/>
          </a:ln>
        </p:spPr>
      </p:cxnSp>
      <p:cxnSp>
        <p:nvCxnSpPr>
          <p:cNvPr id="1008" name="Arrow offline 1"/>
          <p:cNvCxnSpPr/>
          <p:nvPr/>
        </p:nvCxnSpPr>
        <p:spPr>
          <a:xfrm>
            <a:off x="4818888" y="2446020"/>
            <a:ext cx="246888" cy="0"/>
          </a:xfrm>
          <a:prstGeom prst="straightConnector1">
            <a:avLst/>
          </a:prstGeom>
          <a:ln w="19050">
            <a:solidFill>
              <a:srgbClr val="A7A3C4"/>
            </a:solidFill>
            <a:tailEnd type="triangle" w="med" len="med"/>
          </a:ln>
        </p:spPr>
      </p:cxnSp>
      <p:cxnSp>
        <p:nvCxnSpPr>
          <p:cNvPr id="1009" name="Arrow offline 2"/>
          <p:cNvCxnSpPr/>
          <p:nvPr/>
        </p:nvCxnSpPr>
        <p:spPr>
          <a:xfrm>
            <a:off x="7095744" y="2446020"/>
            <a:ext cx="246888" cy="0"/>
          </a:xfrm>
          <a:prstGeom prst="straightConnector1">
            <a:avLst/>
          </a:prstGeom>
          <a:ln w="19050">
            <a:solidFill>
              <a:srgbClr val="A7A3C4"/>
            </a:solidFill>
            <a:tailEnd type="triangle" w="med" len="med"/>
          </a:ln>
        </p:spPr>
      </p:cxnSp>
      <p:sp>
        <p:nvSpPr>
          <p:cNvPr id="1010" name="Lane online"/>
          <p:cNvSpPr/>
          <p:nvPr/>
        </p:nvSpPr>
        <p:spPr>
          <a:xfrm>
            <a:off x="548640" y="340156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ONLINE · ANSWER A QUESTION (CPU ONLY)</a:t>
            </a:r>
            <a:endParaRPr lang="en-US" sz="1400" dirty="0"/>
          </a:p>
        </p:txBody>
      </p:sp>
      <p:sp>
        <p:nvSpPr>
          <p:cNvPr id="1011" name="Box Plain-English question"/>
          <p:cNvSpPr/>
          <p:nvPr/>
        </p:nvSpPr>
        <p:spPr>
          <a:xfrm>
            <a:off x="548640" y="384048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Plain-English question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“where is the retry logic for failed tool calls?”</a:t>
            </a:r>
            <a:endParaRPr lang="en-US" sz="1100" dirty="0"/>
          </a:p>
        </p:txBody>
      </p:sp>
      <p:sp>
        <p:nvSpPr>
          <p:cNvPr id="1012" name="Box Encode the query"/>
          <p:cNvSpPr/>
          <p:nvPr/>
        </p:nvSpPr>
        <p:spPr>
          <a:xfrm>
            <a:off x="2825496" y="384048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Encode the query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Gemma and jina-code, each with its own retrieval prompt; fp32 PyTorch on the CPU</a:t>
            </a:r>
            <a:endParaRPr lang="en-US" sz="1100" dirty="0"/>
          </a:p>
        </p:txBody>
      </p:sp>
      <p:sp>
        <p:nvSpPr>
          <p:cNvPr id="1013" name="Box Candidate search"/>
          <p:cNvSpPr/>
          <p:nvPr/>
        </p:nvSpPr>
        <p:spPr>
          <a:xfrm>
            <a:off x="5102352" y="384048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Candidate search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Tests left out unless asked; BM25 + RRF only when an identifier is named; Gemma's top 50</a:t>
            </a:r>
            <a:endParaRPr lang="en-US" sz="1100" dirty="0"/>
          </a:p>
        </p:txBody>
      </p:sp>
      <p:sp>
        <p:nvSpPr>
          <p:cNvPr id="1014" name="Box Blend and rank"/>
          <p:cNvSpPr/>
          <p:nvPr/>
        </p:nvSpPr>
        <p:spPr>
          <a:xfrm>
            <a:off x="7379208" y="384048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Blend and rank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(1 - g)(0.7 jina + 0.3 Gemma) + g · BM25, min-max per query; g = 0.25 if the gate fired</a:t>
            </a:r>
            <a:endParaRPr lang="en-US" sz="1100" dirty="0"/>
          </a:p>
        </p:txBody>
      </p:sp>
      <p:sp>
        <p:nvSpPr>
          <p:cNvPr id="1015" name="Box Top-10 results"/>
          <p:cNvSpPr/>
          <p:nvPr/>
        </p:nvSpPr>
        <p:spPr>
          <a:xfrm>
            <a:off x="9656064" y="3840480"/>
            <a:ext cx="1956816" cy="141732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118872" tIns="100584" rIns="91440" bIns="73152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Top-10 results</a:t>
            </a:r>
            <a:endParaRPr lang="en-US" sz="13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file:line, kind, name, code snippet and a GitHub link at the indexed commit</a:t>
            </a:r>
            <a:endParaRPr lang="en-US" sz="1100" dirty="0"/>
          </a:p>
        </p:txBody>
      </p:sp>
      <p:cxnSp>
        <p:nvCxnSpPr>
          <p:cNvPr id="1016" name="Arrow online 0"/>
          <p:cNvCxnSpPr/>
          <p:nvPr/>
        </p:nvCxnSpPr>
        <p:spPr>
          <a:xfrm>
            <a:off x="2542032" y="4549140"/>
            <a:ext cx="246888" cy="0"/>
          </a:xfrm>
          <a:prstGeom prst="straightConnector1">
            <a:avLst/>
          </a:prstGeom>
          <a:ln w="19050">
            <a:solidFill>
              <a:srgbClr val="A7A3C4"/>
            </a:solidFill>
            <a:tailEnd type="triangle" w="med" len="med"/>
          </a:ln>
        </p:spPr>
      </p:cxnSp>
      <p:cxnSp>
        <p:nvCxnSpPr>
          <p:cNvPr id="1017" name="Arrow online 1"/>
          <p:cNvCxnSpPr/>
          <p:nvPr/>
        </p:nvCxnSpPr>
        <p:spPr>
          <a:xfrm>
            <a:off x="4818888" y="4549140"/>
            <a:ext cx="246888" cy="0"/>
          </a:xfrm>
          <a:prstGeom prst="straightConnector1">
            <a:avLst/>
          </a:prstGeom>
          <a:ln w="19050">
            <a:solidFill>
              <a:srgbClr val="A7A3C4"/>
            </a:solidFill>
            <a:tailEnd type="triangle" w="med" len="med"/>
          </a:ln>
        </p:spPr>
      </p:cxnSp>
      <p:cxnSp>
        <p:nvCxnSpPr>
          <p:cNvPr id="1018" name="Arrow online 2"/>
          <p:cNvCxnSpPr/>
          <p:nvPr/>
        </p:nvCxnSpPr>
        <p:spPr>
          <a:xfrm>
            <a:off x="7095744" y="4549140"/>
            <a:ext cx="246888" cy="0"/>
          </a:xfrm>
          <a:prstGeom prst="straightConnector1">
            <a:avLst/>
          </a:prstGeom>
          <a:ln w="19050">
            <a:solidFill>
              <a:srgbClr val="A7A3C4"/>
            </a:solidFill>
            <a:tailEnd type="triangle" w="med" len="med"/>
          </a:ln>
        </p:spPr>
      </p:cxnSp>
      <p:cxnSp>
        <p:nvCxnSpPr>
          <p:cNvPr id="1019" name="Arrow online 3"/>
          <p:cNvCxnSpPr/>
          <p:nvPr/>
        </p:nvCxnSpPr>
        <p:spPr>
          <a:xfrm>
            <a:off x="9372600" y="4549140"/>
            <a:ext cx="246888" cy="0"/>
          </a:xfrm>
          <a:prstGeom prst="straightConnector1">
            <a:avLst/>
          </a:prstGeom>
          <a:ln w="19050">
            <a:solidFill>
              <a:srgbClr val="A7A3C4"/>
            </a:solidFill>
            <a:tailEnd type="triangle" w="med" len="med"/>
          </a:ln>
        </p:spPr>
      </p:cxnSp>
      <p:cxnSp>
        <p:nvCxnSpPr>
          <p:cNvPr id="1020" name="Index elbow 1"/>
          <p:cNvCxnSpPr/>
          <p:nvPr/>
        </p:nvCxnSpPr>
        <p:spPr>
          <a:xfrm>
            <a:off x="7790688" y="3191256"/>
            <a:ext cx="0" cy="329184"/>
          </a:xfrm>
          <a:prstGeom prst="straightConnector1">
            <a:avLst/>
          </a:prstGeom>
          <a:ln w="19050">
            <a:solidFill>
              <a:srgbClr val="6D28D9"/>
            </a:solidFill>
          </a:ln>
        </p:spPr>
      </p:cxnSp>
      <p:cxnSp>
        <p:nvCxnSpPr>
          <p:cNvPr id="1021" name="Index elbow 2"/>
          <p:cNvCxnSpPr/>
          <p:nvPr/>
        </p:nvCxnSpPr>
        <p:spPr>
          <a:xfrm flipH="1">
            <a:off x="6080760" y="3520440"/>
            <a:ext cx="1709928" cy="0"/>
          </a:xfrm>
          <a:prstGeom prst="straightConnector1">
            <a:avLst/>
          </a:prstGeom>
          <a:ln w="19050">
            <a:solidFill>
              <a:srgbClr val="6D28D9"/>
            </a:solidFill>
          </a:ln>
        </p:spPr>
      </p:cxnSp>
      <p:cxnSp>
        <p:nvCxnSpPr>
          <p:cNvPr id="1022" name="Index elbow 3"/>
          <p:cNvCxnSpPr/>
          <p:nvPr/>
        </p:nvCxnSpPr>
        <p:spPr>
          <a:xfrm>
            <a:off x="6080760" y="3520440"/>
            <a:ext cx="0" cy="283464"/>
          </a:xfrm>
          <a:prstGeom prst="straightConnector1">
            <a:avLst/>
          </a:prstGeom>
          <a:ln w="19050">
            <a:solidFill>
              <a:srgbClr val="6D28D9"/>
            </a:solidFill>
            <a:tailEnd type="triangle" w="med" len="med"/>
          </a:ln>
        </p:spPr>
      </p:cxnSp>
      <p:cxnSp>
        <p:nvCxnSpPr>
          <p:cNvPr id="1023" name="Index to blend"/>
          <p:cNvCxnSpPr/>
          <p:nvPr/>
        </p:nvCxnSpPr>
        <p:spPr>
          <a:xfrm>
            <a:off x="8705088" y="3191256"/>
            <a:ext cx="0" cy="612648"/>
          </a:xfrm>
          <a:prstGeom prst="straightConnector1">
            <a:avLst/>
          </a:prstGeom>
          <a:ln w="19050">
            <a:solidFill>
              <a:srgbClr val="6D28D9"/>
            </a:solidFill>
            <a:tailEnd type="triangle" w="med" len="med"/>
          </a:ln>
        </p:spPr>
      </p:cxnSp>
      <p:sp>
        <p:nvSpPr>
          <p:cNvPr id="1024" name="Note 224 to 321 ms "/>
          <p:cNvSpPr txBox="1"/>
          <p:nvPr/>
        </p:nvSpPr>
        <p:spPr>
          <a:xfrm>
            <a:off x="548640" y="557784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224 to 321 ms </a:t>
            </a: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median per question end to end on a laptop CPU, models loaded.</a:t>
            </a:r>
            <a:endParaRPr lang="en-US" sz="1400" dirty="0"/>
          </a:p>
        </p:txBody>
      </p:sp>
      <p:sp>
        <p:nvSpPr>
          <p:cNvPr id="1025" name="Note Indexing: "/>
          <p:cNvSpPr txBox="1"/>
          <p:nvPr/>
        </p:nvSpPr>
        <p:spPr>
          <a:xfrm>
            <a:off x="4343400" y="557784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Indexing: </a:t>
            </a: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minutes on a GPU, about 10 min per 1,000 units on a CPU; unchanged code is never re-embedded.</a:t>
            </a:r>
            <a:endParaRPr lang="en-US" sz="1400" dirty="0"/>
          </a:p>
        </p:txBody>
      </p:sp>
      <p:sp>
        <p:nvSpPr>
          <p:cNvPr id="1026" name="Note Official path "/>
          <p:cNvSpPr txBox="1"/>
          <p:nvPr/>
        </p:nvSpPr>
        <p:spPr>
          <a:xfrm>
            <a:off x="8138160" y="557784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Official path </a:t>
            </a: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stays a plain encoder: the BM25 lane costs ~11 NDCG@10 on problem statements.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How a question is answered (CPU, fp32)</a:t>
            </a:r>
            <a:endParaRPr lang="en-US" sz="3200" dirty="0"/>
          </a:p>
        </p:txBody>
      </p:sp>
      <p:sp>
        <p:nvSpPr>
          <p:cNvPr id="1001" name="Diagram frame"/>
          <p:cNvSpPr/>
          <p:nvPr/>
        </p:nvSpPr>
        <p:spPr>
          <a:xfrm>
            <a:off x="548640" y="1280160"/>
            <a:ext cx="11091672" cy="34444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pic>
        <p:nvPicPr>
          <p:cNvPr id="1002" name="Online phase diagram" descr="Network 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3352967"/>
          </a:xfrm>
          <a:prstGeom prst="rect">
            <a:avLst/>
          </a:prstGeom>
        </p:spPr>
      </p:pic>
      <p:sp>
        <p:nvSpPr>
          <p:cNvPr id="1003" name="Why Why two models"/>
          <p:cNvSpPr/>
          <p:nvPr/>
        </p:nvSpPr>
        <p:spPr>
          <a:xfrm>
            <a:off x="548640" y="4998887"/>
            <a:ext cx="3511296" cy="1401913"/>
          </a:xfrm>
          <a:prstGeom prst="roundRect">
            <a:avLst>
              <a:gd name="adj" fmla="val 10000"/>
            </a:avLst>
          </a:prstGeom>
          <a:solidFill>
            <a:srgbClr val="F3EFFD"/>
          </a:solidFill>
          <a:ln>
            <a:noFill/>
          </a:ln>
        </p:spPr>
        <p:txBody>
          <a:bodyPr wrap="square" lIns="201168" tIns="109728" rIns="18288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Why two models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Gemma's top 10 almost always holds an answer; jina-code puts it first more often. Gemma picks the pool, jina orders it.</a:t>
            </a:r>
            <a:endParaRPr lang="en-US" sz="1400" dirty="0"/>
          </a:p>
        </p:txBody>
      </p:sp>
      <p:sp>
        <p:nvSpPr>
          <p:cNvPr id="1004" name="Why Why a gated keyword lane"/>
          <p:cNvSpPr/>
          <p:nvPr/>
        </p:nvSpPr>
        <p:spPr>
          <a:xfrm>
            <a:off x="4338828" y="4998887"/>
            <a:ext cx="3511296" cy="1401913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>
            <a:noFill/>
          </a:ln>
        </p:spPr>
        <p:txBody>
          <a:bodyPr wrap="square" lIns="201168" tIns="109728" rIns="18288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Why a gated keyword lane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BM25 fixes exact names and error codes but misleads on prose, so it runs only when the question names something that exists in the code.</a:t>
            </a:r>
            <a:endParaRPr lang="en-US" sz="1400" dirty="0"/>
          </a:p>
        </p:txBody>
      </p:sp>
      <p:sp>
        <p:nvSpPr>
          <p:cNvPr id="1005" name="Why Why it stays fast"/>
          <p:cNvSpPr/>
          <p:nvPr/>
        </p:nvSpPr>
        <p:spPr>
          <a:xfrm>
            <a:off x="8129016" y="4998887"/>
            <a:ext cx="3511296" cy="1401913"/>
          </a:xfrm>
          <a:prstGeom prst="roundRect">
            <a:avLst>
              <a:gd name="adj" fmla="val 10000"/>
            </a:avLst>
          </a:prstGeom>
          <a:solidFill>
            <a:srgbClr val="E1F4F1"/>
          </a:solidFill>
          <a:ln>
            <a:noFill/>
          </a:ln>
        </p:spPr>
        <p:txBody>
          <a:bodyPr wrap="square" lIns="201168" tIns="109728" rIns="18288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Why it stays fast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The second model only encodes the query: candidate vectors are already stored. Search and blend take a few milliseconds.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Demo &amp; Product Walkthrough</a:t>
            </a:r>
            <a:endParaRPr lang="en-US" sz="3200" dirty="0"/>
          </a:p>
        </p:txBody>
      </p:sp>
      <p:sp>
        <p:nvSpPr>
          <p:cNvPr id="1001" name="Step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en-US" sz="1400" dirty="0"/>
          </a:p>
        </p:txBody>
      </p:sp>
      <p:sp>
        <p:nvSpPr>
          <p:cNvPr id="1002" name="Step head 1"/>
          <p:cNvSpPr txBox="1"/>
          <p:nvPr/>
        </p:nvSpPr>
        <p:spPr>
          <a:xfrm>
            <a:off x="1234440" y="137160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Start the app</a:t>
            </a:r>
            <a:endParaRPr lang="en-US" sz="1400" dirty="0"/>
          </a:p>
        </p:txBody>
      </p:sp>
      <p:sp>
        <p:nvSpPr>
          <p:cNvPr id="1003" name="Step cmd 1"/>
          <p:cNvSpPr/>
          <p:nvPr/>
        </p:nvSpPr>
        <p:spPr>
          <a:xfrm>
            <a:off x="1234440" y="1783080"/>
            <a:ext cx="5852160" cy="384048"/>
          </a:xfrm>
          <a:prstGeom prst="roundRect">
            <a:avLst>
              <a:gd name="adj" fmla="val 15000"/>
            </a:avLst>
          </a:prstGeom>
          <a:solidFill>
            <a:srgbClr val="14142B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E4E1F7"/>
                </a:solidFill>
                <a:latin typeface="Courier New"/>
                <a:ea typeface="Courier New"/>
                <a:cs typeface="Courier New"/>
              </a:rPr>
              <a:t>uv run reflex run --env prod --single-port</a:t>
            </a:r>
            <a:endParaRPr lang="en-US" sz="1400" dirty="0"/>
          </a:p>
        </p:txBody>
      </p:sp>
      <p:sp>
        <p:nvSpPr>
          <p:cNvPr id="1004" name="Step body 1"/>
          <p:cNvSpPr txBox="1"/>
          <p:nvPr/>
        </p:nvSpPr>
        <p:spPr>
          <a:xfrm>
            <a:off x="1234440" y="224028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Both models load once at startup (7 to 15 s); the page opens at localhost:3000.</a:t>
            </a:r>
            <a:endParaRPr lang="en-US" sz="1400" dirty="0"/>
          </a:p>
        </p:txBody>
      </p:sp>
      <p:sp>
        <p:nvSpPr>
          <p:cNvPr id="1005" name="Step 2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1400" dirty="0"/>
          </a:p>
        </p:txBody>
      </p:sp>
      <p:sp>
        <p:nvSpPr>
          <p:cNvPr id="1006" name="Step head 2"/>
          <p:cNvSpPr txBox="1"/>
          <p:nvPr/>
        </p:nvSpPr>
        <p:spPr>
          <a:xfrm>
            <a:off x="1234440" y="30632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Open a repository</a:t>
            </a:r>
            <a:endParaRPr lang="en-US" sz="1400" dirty="0"/>
          </a:p>
        </p:txBody>
      </p:sp>
      <p:sp>
        <p:nvSpPr>
          <p:cNvPr id="1007" name="Step field 2"/>
          <p:cNvSpPr/>
          <p:nvPr/>
        </p:nvSpPr>
        <p:spPr>
          <a:xfrm>
            <a:off x="1234440" y="3474720"/>
            <a:ext cx="5852160" cy="384048"/>
          </a:xfrm>
          <a:prstGeom prst="roundRect">
            <a:avLst>
              <a:gd name="adj" fmla="val 20000"/>
            </a:avLst>
          </a:prstGeom>
          <a:solidFill>
            <a:srgbClr val="F7F6FB"/>
          </a:solidFill>
          <a:ln w="12700">
            <a:solidFill>
              <a:srgbClr val="E2DDF3"/>
            </a:solidFill>
          </a:ln>
        </p:spPr>
        <p:txBody>
          <a:bodyPr wrap="square" lIns="164592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https://github.com/owner/repository</a:t>
            </a:r>
            <a:endParaRPr lang="en-US" sz="1400" dirty="0"/>
          </a:p>
        </p:txBody>
      </p:sp>
      <p:sp>
        <p:nvSpPr>
          <p:cNvPr id="1008" name="Step body 2"/>
          <p:cNvSpPr txBox="1"/>
          <p:nvPr/>
        </p:nvSpPr>
        <p:spPr>
          <a:xfrm>
            <a:off x="1234440" y="393192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Paste a GitHub link: it is shallow-cloned and indexed on the CPU. BrowserOS and Node-RED open from prebuilt indexes.</a:t>
            </a:r>
            <a:endParaRPr lang="en-US" sz="1400" dirty="0"/>
          </a:p>
        </p:txBody>
      </p:sp>
      <p:sp>
        <p:nvSpPr>
          <p:cNvPr id="1009" name="Step 3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1400" dirty="0"/>
          </a:p>
        </p:txBody>
      </p:sp>
      <p:sp>
        <p:nvSpPr>
          <p:cNvPr id="1010" name="Step head 3"/>
          <p:cNvSpPr txBox="1"/>
          <p:nvPr/>
        </p:nvSpPr>
        <p:spPr>
          <a:xfrm>
            <a:off x="1234440" y="475488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Ask a question</a:t>
            </a:r>
            <a:endParaRPr lang="en-US" sz="1400" dirty="0"/>
          </a:p>
        </p:txBody>
      </p:sp>
      <p:sp>
        <p:nvSpPr>
          <p:cNvPr id="1011" name="Step field 3"/>
          <p:cNvSpPr/>
          <p:nvPr/>
        </p:nvSpPr>
        <p:spPr>
          <a:xfrm>
            <a:off x="1234440" y="5166360"/>
            <a:ext cx="5852160" cy="384048"/>
          </a:xfrm>
          <a:prstGeom prst="roundRect">
            <a:avLst>
              <a:gd name="adj" fmla="val 20000"/>
            </a:avLst>
          </a:prstGeom>
          <a:solidFill>
            <a:srgbClr val="F7F6FB"/>
          </a:solidFill>
          <a:ln w="12700">
            <a:solidFill>
              <a:srgbClr val="E2DDF3"/>
            </a:solidFill>
          </a:ln>
        </p:spPr>
        <p:txBody>
          <a:bodyPr wrap="square" lIns="164592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Where is the retry logic for failed tool calls?</a:t>
            </a:r>
            <a:endParaRPr lang="en-US" sz="1400" dirty="0"/>
          </a:p>
        </p:txBody>
      </p:sp>
      <p:sp>
        <p:nvSpPr>
          <p:cNvPr id="1012" name="Step body 3"/>
          <p:cNvSpPr txBox="1"/>
          <p:nvPr/>
        </p:nvSpPr>
        <p:spPr>
          <a:xfrm>
            <a:off x="1234440" y="562356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Each result: file, kind, name, line range, highlighted code, a commit-pinned GitHub link, and the time taken.</a:t>
            </a:r>
            <a:endParaRPr lang="en-US" sz="1400" dirty="0"/>
          </a:p>
        </p:txBody>
      </p:sp>
      <p:sp>
        <p:nvSpPr>
          <p:cNvPr id="1013" name="Query card"/>
          <p:cNvSpPr/>
          <p:nvPr/>
        </p:nvSpPr>
        <p:spPr>
          <a:xfrm>
            <a:off x="7498080" y="1325880"/>
            <a:ext cx="414223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4" name="Label A QUESTION TO TRY LIVE"/>
          <p:cNvSpPr txBox="1"/>
          <p:nvPr/>
        </p:nvSpPr>
        <p:spPr>
          <a:xfrm>
            <a:off x="7772400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A QUESTION TO TRY LIVE</a:t>
            </a:r>
            <a:endParaRPr lang="en-US" sz="1400" dirty="0"/>
          </a:p>
        </p:txBody>
      </p:sp>
      <p:sp>
        <p:nvSpPr>
          <p:cNvPr id="1015" name="Query"/>
          <p:cNvSpPr txBox="1"/>
          <p:nvPr/>
        </p:nvSpPr>
        <p:spPr>
          <a:xfrm>
            <a:off x="7772400" y="187452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“How are API keys, bearer tokens, JWTs and passwords scrubbed from upstream provider error bodies before they are shown to the user?”</a:t>
            </a:r>
            <a:endParaRPr lang="en-US" sz="1400" dirty="0"/>
          </a:p>
        </p:txBody>
      </p:sp>
      <p:sp>
        <p:nvSpPr>
          <p:cNvPr id="1016" name="Answer"/>
          <p:cNvSpPr txBox="1"/>
          <p:nvPr/>
        </p:nvSpPr>
        <p:spPr>
          <a:xfrm>
            <a:off x="7772400" y="301752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 spc="15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LABELLED ANSWER · BROWSEROS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4142B"/>
                </a:solidFill>
                <a:latin typeface="Courier New"/>
                <a:ea typeface="Courier New"/>
                <a:cs typeface="Courier New"/>
              </a:rPr>
              <a:t>SECRET_PATTERNS, redact()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5B78"/>
                </a:solidFill>
                <a:latin typeface="Courier New"/>
                <a:ea typeface="Courier New"/>
                <a:cs typeface="Courier New"/>
              </a:rPr>
              <a:t>apps/server/src/agent/chat-error.ts : 51-84</a:t>
            </a:r>
            <a:endParaRPr lang="en-US" sz="1400" dirty="0"/>
          </a:p>
        </p:txBody>
      </p:sp>
      <p:sp>
        <p:nvSpPr>
          <p:cNvPr id="1017" name="Stat ~0.3 s"/>
          <p:cNvSpPr/>
          <p:nvPr/>
        </p:nvSpPr>
        <p:spPr>
          <a:xfrm>
            <a:off x="7498080" y="4297680"/>
            <a:ext cx="129844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8" name="Stat value ~0.3 s"/>
          <p:cNvSpPr txBox="1"/>
          <p:nvPr/>
        </p:nvSpPr>
        <p:spPr>
          <a:xfrm>
            <a:off x="7498080" y="4434840"/>
            <a:ext cx="129844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~0.3 s</a:t>
            </a:r>
            <a:endParaRPr lang="en-US" sz="1400" dirty="0"/>
          </a:p>
        </p:txBody>
      </p:sp>
      <p:sp>
        <p:nvSpPr>
          <p:cNvPr id="1019" name="Stat label ~0.3 s"/>
          <p:cNvSpPr txBox="1"/>
          <p:nvPr/>
        </p:nvSpPr>
        <p:spPr>
          <a:xfrm>
            <a:off x="7571232" y="4983480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per question, CPU, end to end</a:t>
            </a:r>
            <a:endParaRPr lang="en-US" sz="1400" dirty="0"/>
          </a:p>
        </p:txBody>
      </p:sp>
      <p:sp>
        <p:nvSpPr>
          <p:cNvPr id="1020" name="Stat 7-15 s"/>
          <p:cNvSpPr/>
          <p:nvPr/>
        </p:nvSpPr>
        <p:spPr>
          <a:xfrm>
            <a:off x="8919972" y="4297680"/>
            <a:ext cx="129844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21" name="Stat value 7-15 s"/>
          <p:cNvSpPr txBox="1"/>
          <p:nvPr/>
        </p:nvSpPr>
        <p:spPr>
          <a:xfrm>
            <a:off x="8919972" y="4434840"/>
            <a:ext cx="129844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7-15 s</a:t>
            </a:r>
            <a:endParaRPr lang="en-US" sz="1400" dirty="0"/>
          </a:p>
        </p:txBody>
      </p:sp>
      <p:sp>
        <p:nvSpPr>
          <p:cNvPr id="1022" name="Stat label 7-15 s"/>
          <p:cNvSpPr txBox="1"/>
          <p:nvPr/>
        </p:nvSpPr>
        <p:spPr>
          <a:xfrm>
            <a:off x="8993124" y="4983480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model loading, once</a:t>
            </a:r>
            <a:endParaRPr lang="en-US" sz="1400" dirty="0"/>
          </a:p>
        </p:txBody>
      </p:sp>
      <p:sp>
        <p:nvSpPr>
          <p:cNvPr id="1023" name="Stat 10 min"/>
          <p:cNvSpPr/>
          <p:nvPr/>
        </p:nvSpPr>
        <p:spPr>
          <a:xfrm>
            <a:off x="10341864" y="4297680"/>
            <a:ext cx="129844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24" name="Stat value 10 min"/>
          <p:cNvSpPr txBox="1"/>
          <p:nvPr/>
        </p:nvSpPr>
        <p:spPr>
          <a:xfrm>
            <a:off x="10341864" y="4434840"/>
            <a:ext cx="129844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10 min</a:t>
            </a:r>
            <a:endParaRPr lang="en-US" sz="1400" dirty="0"/>
          </a:p>
        </p:txBody>
      </p:sp>
      <p:sp>
        <p:nvSpPr>
          <p:cNvPr id="1025" name="Stat label 10 min"/>
          <p:cNvSpPr txBox="1"/>
          <p:nvPr/>
        </p:nvSpPr>
        <p:spPr>
          <a:xfrm>
            <a:off x="10415016" y="4983480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CPU indexing per 1,000 units</a:t>
            </a:r>
            <a:endParaRPr lang="en-US" sz="1400" dirty="0"/>
          </a:p>
        </p:txBody>
      </p:sp>
      <p:sp>
        <p:nvSpPr>
          <p:cNvPr id="1026" name="Stat footnote"/>
          <p:cNvSpPr txBox="1"/>
          <p:nvPr/>
        </p:nvSpPr>
        <p:spPr>
          <a:xfrm>
            <a:off x="7498080" y="5760720"/>
            <a:ext cx="414223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Median 224 to 321 ms on a 4-performance-core laptop CPU, fp32, warm, one question at a time. Indexed repositories are cached.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Tools and tech stack used</a:t>
            </a:r>
            <a:endParaRPr lang="en-US" sz="3200" dirty="0"/>
          </a:p>
        </p:txBody>
      </p:sp>
      <p:sp>
        <p:nvSpPr>
          <p:cNvPr id="1001" name="Stack Embedding models"/>
          <p:cNvSpPr/>
          <p:nvPr/>
        </p:nvSpPr>
        <p:spPr>
          <a:xfrm>
            <a:off x="548640" y="141732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2" name="Stack badge Embedding models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01</a:t>
            </a:r>
            <a:endParaRPr lang="en-US" sz="1400" dirty="0"/>
          </a:p>
        </p:txBody>
      </p:sp>
      <p:sp>
        <p:nvSpPr>
          <p:cNvPr id="1003" name="Stack head Embedding models"/>
          <p:cNvSpPr txBox="1"/>
          <p:nvPr/>
        </p:nvSpPr>
        <p:spPr>
          <a:xfrm>
            <a:off x="1417320" y="169164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Embedding models</a:t>
            </a:r>
            <a:endParaRPr lang="en-US" sz="1400" dirty="0"/>
          </a:p>
        </p:txBody>
      </p:sp>
      <p:sp>
        <p:nvSpPr>
          <p:cNvPr id="1004" name="Stack items Embedding models"/>
          <p:cNvSpPr txBox="1"/>
          <p:nvPr/>
        </p:nvSpPr>
        <p:spPr>
          <a:xfrm>
            <a:off x="822960" y="2331720"/>
            <a:ext cx="3008376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EmbeddingGemma-300m (rev 57c266a7, 768-d)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jina-code-embeddings-0.5b (rev 4db23513, 896-d)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Qwen3-Embedding-0.6B tried, dropped</a:t>
            </a:r>
            <a:endParaRPr lang="en-US" sz="1400" dirty="0"/>
          </a:p>
        </p:txBody>
      </p:sp>
      <p:sp>
        <p:nvSpPr>
          <p:cNvPr id="1005" name="Stack Code parsing"/>
          <p:cNvSpPr/>
          <p:nvPr/>
        </p:nvSpPr>
        <p:spPr>
          <a:xfrm>
            <a:off x="4338828" y="141732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6" name="Stack badge Code parsing"/>
          <p:cNvSpPr/>
          <p:nvPr/>
        </p:nvSpPr>
        <p:spPr>
          <a:xfrm>
            <a:off x="4613148" y="1691640"/>
            <a:ext cx="457200" cy="45720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02</a:t>
            </a:r>
            <a:endParaRPr lang="en-US" sz="1400" dirty="0"/>
          </a:p>
        </p:txBody>
      </p:sp>
      <p:sp>
        <p:nvSpPr>
          <p:cNvPr id="1007" name="Stack head Code parsing"/>
          <p:cNvSpPr txBox="1"/>
          <p:nvPr/>
        </p:nvSpPr>
        <p:spPr>
          <a:xfrm>
            <a:off x="5207508" y="169164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Code parsing</a:t>
            </a:r>
            <a:endParaRPr lang="en-US" sz="1400" dirty="0"/>
          </a:p>
        </p:txBody>
      </p:sp>
      <p:sp>
        <p:nvSpPr>
          <p:cNvPr id="1008" name="Stack items Code parsing"/>
          <p:cNvSpPr txBox="1"/>
          <p:nvPr/>
        </p:nvSpPr>
        <p:spPr>
          <a:xfrm>
            <a:off x="4613148" y="2331720"/>
            <a:ext cx="3008376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tree-sitter 0.25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D4ED8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Python, JavaScript, TypeScript and TSX grammars</a:t>
            </a:r>
            <a:endParaRPr lang="en-US" sz="1400" dirty="0"/>
          </a:p>
        </p:txBody>
      </p:sp>
      <p:sp>
        <p:nvSpPr>
          <p:cNvPr id="1009" name="Stack CPU inference"/>
          <p:cNvSpPr/>
          <p:nvPr/>
        </p:nvSpPr>
        <p:spPr>
          <a:xfrm>
            <a:off x="8129016" y="141732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0" name="Stack badge CPU inference"/>
          <p:cNvSpPr/>
          <p:nvPr/>
        </p:nvSpPr>
        <p:spPr>
          <a:xfrm>
            <a:off x="8403336" y="1691640"/>
            <a:ext cx="457200" cy="457200"/>
          </a:xfrm>
          <a:prstGeom prst="ellipse">
            <a:avLst/>
          </a:prstGeom>
          <a:solidFill>
            <a:srgbClr val="E1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03</a:t>
            </a:r>
            <a:endParaRPr lang="en-US" sz="1400" dirty="0"/>
          </a:p>
        </p:txBody>
      </p:sp>
      <p:sp>
        <p:nvSpPr>
          <p:cNvPr id="1011" name="Stack head CPU inference"/>
          <p:cNvSpPr txBox="1"/>
          <p:nvPr/>
        </p:nvSpPr>
        <p:spPr>
          <a:xfrm>
            <a:off x="8997696" y="169164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CPU inference</a:t>
            </a:r>
            <a:endParaRPr lang="en-US" sz="1400" dirty="0"/>
          </a:p>
        </p:txBody>
      </p:sp>
      <p:sp>
        <p:nvSpPr>
          <p:cNvPr id="1012" name="Stack items CPU inference"/>
          <p:cNvSpPr txBox="1"/>
          <p:nvPr/>
        </p:nvSpPr>
        <p:spPr>
          <a:xfrm>
            <a:off x="8403336" y="2331720"/>
            <a:ext cx="3008376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PyTorch fp32 + sentence-transformers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OpenVINO int8 tested: 3.3x faster, not needed</a:t>
            </a:r>
            <a:endParaRPr lang="en-US" sz="1400" dirty="0"/>
          </a:p>
        </p:txBody>
      </p:sp>
      <p:sp>
        <p:nvSpPr>
          <p:cNvPr id="1013" name="Stack Search"/>
          <p:cNvSpPr/>
          <p:nvPr/>
        </p:nvSpPr>
        <p:spPr>
          <a:xfrm>
            <a:off x="548640" y="388620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4" name="Stack badge Search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FDEE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04</a:t>
            </a:r>
            <a:endParaRPr lang="en-US" sz="1400" dirty="0"/>
          </a:p>
        </p:txBody>
      </p:sp>
      <p:sp>
        <p:nvSpPr>
          <p:cNvPr id="1015" name="Stack head Search"/>
          <p:cNvSpPr txBox="1"/>
          <p:nvPr/>
        </p:nvSpPr>
        <p:spPr>
          <a:xfrm>
            <a:off x="1417320" y="416052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Search</a:t>
            </a:r>
            <a:endParaRPr lang="en-US" sz="1400" dirty="0"/>
          </a:p>
        </p:txBody>
      </p:sp>
      <p:sp>
        <p:nvSpPr>
          <p:cNvPr id="1016" name="Stack items Search"/>
          <p:cNvSpPr txBox="1"/>
          <p:nvPr/>
        </p:nvSpPr>
        <p:spPr>
          <a:xfrm>
            <a:off x="822960" y="4800600"/>
            <a:ext cx="3008376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Two FAISS IndexFlatIP (exact)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2410C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Our identifier-aware BM25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2410C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Reciprocal rank fusion + min-max score blend</a:t>
            </a:r>
            <a:endParaRPr lang="en-US" sz="1400" dirty="0"/>
          </a:p>
        </p:txBody>
      </p:sp>
      <p:sp>
        <p:nvSpPr>
          <p:cNvPr id="1017" name="Stack Demo and evaluation"/>
          <p:cNvSpPr/>
          <p:nvPr/>
        </p:nvSpPr>
        <p:spPr>
          <a:xfrm>
            <a:off x="4338828" y="388620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8" name="Stack badge Demo and evaluation"/>
          <p:cNvSpPr/>
          <p:nvPr/>
        </p:nvSpPr>
        <p:spPr>
          <a:xfrm>
            <a:off x="4613148" y="4160520"/>
            <a:ext cx="457200" cy="457200"/>
          </a:xfrm>
          <a:prstGeom prst="ellipse">
            <a:avLst/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05</a:t>
            </a:r>
            <a:endParaRPr lang="en-US" sz="1400" dirty="0"/>
          </a:p>
        </p:txBody>
      </p:sp>
      <p:sp>
        <p:nvSpPr>
          <p:cNvPr id="1019" name="Stack head Demo and evaluation"/>
          <p:cNvSpPr txBox="1"/>
          <p:nvPr/>
        </p:nvSpPr>
        <p:spPr>
          <a:xfrm>
            <a:off x="5207508" y="416052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Demo and evaluation</a:t>
            </a:r>
            <a:endParaRPr lang="en-US" sz="1400" dirty="0"/>
          </a:p>
        </p:txBody>
      </p:sp>
      <p:sp>
        <p:nvSpPr>
          <p:cNvPr id="1020" name="Stack items Demo and evaluation"/>
          <p:cNvSpPr txBox="1"/>
          <p:nvPr/>
        </p:nvSpPr>
        <p:spPr>
          <a:xfrm>
            <a:off x="4613148" y="4800600"/>
            <a:ext cx="3008376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Reflex web app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MTEB 2.21.0 · AppsRetrieval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100 labelled questions · 51 pytest tests</a:t>
            </a:r>
            <a:endParaRPr lang="en-US" sz="1400" dirty="0"/>
          </a:p>
        </p:txBody>
      </p:sp>
      <p:sp>
        <p:nvSpPr>
          <p:cNvPr id="1021" name="Stack Environment"/>
          <p:cNvSpPr/>
          <p:nvPr/>
        </p:nvSpPr>
        <p:spPr>
          <a:xfrm>
            <a:off x="8129016" y="388620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22" name="Stack badge Environment"/>
          <p:cNvSpPr/>
          <p:nvPr/>
        </p:nvSpPr>
        <p:spPr>
          <a:xfrm>
            <a:off x="8403336" y="4160520"/>
            <a:ext cx="457200" cy="45720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06</a:t>
            </a:r>
            <a:endParaRPr lang="en-US" sz="1400" dirty="0"/>
          </a:p>
        </p:txBody>
      </p:sp>
      <p:sp>
        <p:nvSpPr>
          <p:cNvPr id="1023" name="Stack head Environment"/>
          <p:cNvSpPr txBox="1"/>
          <p:nvPr/>
        </p:nvSpPr>
        <p:spPr>
          <a:xfrm>
            <a:off x="8997696" y="416052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Environment</a:t>
            </a:r>
            <a:endParaRPr lang="en-US" sz="1400" dirty="0"/>
          </a:p>
        </p:txBody>
      </p:sp>
      <p:sp>
        <p:nvSpPr>
          <p:cNvPr id="1024" name="Stack items Environment"/>
          <p:cNvSpPr txBox="1"/>
          <p:nvPr/>
        </p:nvSpPr>
        <p:spPr>
          <a:xfrm>
            <a:off x="8403336" y="4800600"/>
            <a:ext cx="3008376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Python 3.11 · uv lockfile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D4ED8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GPU only offline (4 GB laptop GPU)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D4ED8"/>
              </a:buClr>
              <a:buSzPct val="100000"/>
              <a:buFont typeface="Arial"/>
              <a:buChar char="•"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Measured on a 4-P-core laptop CPU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Impact &amp; Use case</a:t>
            </a:r>
            <a:endParaRPr lang="en-US" sz="3200" dirty="0"/>
          </a:p>
        </p:txBody>
      </p:sp>
      <p:sp>
        <p:nvSpPr>
          <p:cNvPr id="1001" name="Use 1"/>
          <p:cNvSpPr/>
          <p:nvPr/>
        </p:nvSpPr>
        <p:spPr>
          <a:xfrm>
            <a:off x="548640" y="1444752"/>
            <a:ext cx="502920" cy="502920"/>
          </a:xfrm>
          <a:prstGeom prst="ellipse">
            <a:avLst/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1</a:t>
            </a:r>
            <a:endParaRPr lang="en-US" sz="1400" dirty="0"/>
          </a:p>
        </p:txBody>
      </p:sp>
      <p:sp>
        <p:nvSpPr>
          <p:cNvPr id="1002" name="Use head 1"/>
          <p:cNvSpPr txBox="1"/>
          <p:nvPr/>
        </p:nvSpPr>
        <p:spPr>
          <a:xfrm>
            <a:off x="1280160" y="1371600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Onboarding a new developer</a:t>
            </a:r>
            <a:endParaRPr lang="en-US" sz="1400" dirty="0"/>
          </a:p>
        </p:txBody>
      </p:sp>
      <p:sp>
        <p:nvSpPr>
          <p:cNvPr id="1003" name="Use body 1"/>
          <p:cNvSpPr txBox="1"/>
          <p:nvPr/>
        </p:nvSpPr>
        <p:spPr>
          <a:xfrm>
            <a:off x="1280160" y="1764792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Paste the repository link, ask “where is the Bluetooth-settings deeplink used?” and jump to file:line instead of grepping.</a:t>
            </a:r>
            <a:endParaRPr lang="en-US" sz="1400" dirty="0"/>
          </a:p>
        </p:txBody>
      </p:sp>
      <p:sp>
        <p:nvSpPr>
          <p:cNvPr id="1004" name="Use 2"/>
          <p:cNvSpPr/>
          <p:nvPr/>
        </p:nvSpPr>
        <p:spPr>
          <a:xfrm>
            <a:off x="548640" y="2706624"/>
            <a:ext cx="502920" cy="502920"/>
          </a:xfrm>
          <a:prstGeom prst="ellipse">
            <a:avLst/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2</a:t>
            </a:r>
            <a:endParaRPr lang="en-US" sz="1400" dirty="0"/>
          </a:p>
        </p:txBody>
      </p:sp>
      <p:sp>
        <p:nvSpPr>
          <p:cNvPr id="1005" name="Use head 2"/>
          <p:cNvSpPr txBox="1"/>
          <p:nvPr/>
        </p:nvSpPr>
        <p:spPr>
          <a:xfrm>
            <a:off x="1280160" y="2633472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Retrieval tool for coding agents</a:t>
            </a:r>
            <a:endParaRPr lang="en-US" sz="1400" dirty="0"/>
          </a:p>
        </p:txBody>
      </p:sp>
      <p:sp>
        <p:nvSpPr>
          <p:cNvPr id="1006" name="Use body 2"/>
          <p:cNvSpPr txBox="1"/>
          <p:nvPr/>
        </p:nvSpPr>
        <p:spPr>
          <a:xfrm>
            <a:off x="1280160" y="3026664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The first step of an agent's plan, search, read loop, cheap enough to call many times per task.</a:t>
            </a:r>
            <a:endParaRPr lang="en-US" sz="1400" dirty="0"/>
          </a:p>
        </p:txBody>
      </p:sp>
      <p:sp>
        <p:nvSpPr>
          <p:cNvPr id="1007" name="Use 3"/>
          <p:cNvSpPr/>
          <p:nvPr/>
        </p:nvSpPr>
        <p:spPr>
          <a:xfrm>
            <a:off x="548640" y="3968496"/>
            <a:ext cx="502920" cy="502920"/>
          </a:xfrm>
          <a:prstGeom prst="ellipse">
            <a:avLst/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3</a:t>
            </a:r>
            <a:endParaRPr lang="en-US" sz="1400" dirty="0"/>
          </a:p>
        </p:txBody>
      </p:sp>
      <p:sp>
        <p:nvSpPr>
          <p:cNvPr id="1008" name="Use head 3"/>
          <p:cNvSpPr txBox="1"/>
          <p:nvPr/>
        </p:nvSpPr>
        <p:spPr>
          <a:xfrm>
            <a:off x="1280160" y="3895344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Bug triage and code review</a:t>
            </a:r>
            <a:endParaRPr lang="en-US" sz="1400" dirty="0"/>
          </a:p>
        </p:txBody>
      </p:sp>
      <p:sp>
        <p:nvSpPr>
          <p:cNvPr id="1009" name="Use body 3"/>
          <p:cNvSpPr txBox="1"/>
          <p:nvPr/>
        </p:nvSpPr>
        <p:spPr>
          <a:xfrm>
            <a:off x="1280160" y="4288536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Find the code behind a behaviour in a bug report, even when it never uses the report's words.</a:t>
            </a:r>
            <a:endParaRPr lang="en-US" sz="1400" dirty="0"/>
          </a:p>
        </p:txBody>
      </p:sp>
      <p:sp>
        <p:nvSpPr>
          <p:cNvPr id="1010" name="Use 4"/>
          <p:cNvSpPr/>
          <p:nvPr/>
        </p:nvSpPr>
        <p:spPr>
          <a:xfrm>
            <a:off x="548640" y="5230368"/>
            <a:ext cx="502920" cy="502920"/>
          </a:xfrm>
          <a:prstGeom prst="ellipse">
            <a:avLst/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4</a:t>
            </a:r>
            <a:endParaRPr lang="en-US" sz="1400" dirty="0"/>
          </a:p>
        </p:txBody>
      </p:sp>
      <p:sp>
        <p:nvSpPr>
          <p:cNvPr id="1011" name="Use head 4"/>
          <p:cNvSpPr txBox="1"/>
          <p:nvPr/>
        </p:nvSpPr>
        <p:spPr>
          <a:xfrm>
            <a:off x="1280160" y="5157216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Private codebases</a:t>
            </a:r>
            <a:endParaRPr lang="en-US" sz="1400" dirty="0"/>
          </a:p>
        </p:txBody>
      </p:sp>
      <p:sp>
        <p:nvSpPr>
          <p:cNvPr id="1012" name="Use body 4"/>
          <p:cNvSpPr txBox="1"/>
          <p:nvPr/>
        </p:nvSpPr>
        <p:spPr>
          <a:xfrm>
            <a:off x="1280160" y="555040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Local open-weight models on a laptop CPU: source code never leaves the machine.</a:t>
            </a:r>
            <a:endParaRPr lang="en-US" sz="1400" dirty="0"/>
          </a:p>
        </p:txBody>
      </p:sp>
      <p:sp>
        <p:nvSpPr>
          <p:cNvPr id="1013" name="Impact 50 / 50"/>
          <p:cNvSpPr/>
          <p:nvPr/>
        </p:nvSpPr>
        <p:spPr>
          <a:xfrm>
            <a:off x="7589520" y="1371600"/>
            <a:ext cx="4050792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4" name="Impact value 50 / 50"/>
          <p:cNvSpPr txBox="1"/>
          <p:nvPr/>
        </p:nvSpPr>
        <p:spPr>
          <a:xfrm>
            <a:off x="7863840" y="1536192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50 / 50</a:t>
            </a:r>
            <a:endParaRPr lang="en-US" sz="1400" dirty="0"/>
          </a:p>
        </p:txBody>
      </p:sp>
      <p:sp>
        <p:nvSpPr>
          <p:cNvPr id="1015" name="Impact label 50 / 50"/>
          <p:cNvSpPr txBox="1"/>
          <p:nvPr/>
        </p:nvSpPr>
        <p:spPr>
          <a:xfrm>
            <a:off x="7863840" y="22402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BrowserOS questions with a correct answer in the top 10</a:t>
            </a:r>
            <a:endParaRPr lang="en-US" sz="1400" dirty="0"/>
          </a:p>
        </p:txBody>
      </p:sp>
      <p:sp>
        <p:nvSpPr>
          <p:cNvPr id="1016" name="Impact ~0.3 s"/>
          <p:cNvSpPr/>
          <p:nvPr/>
        </p:nvSpPr>
        <p:spPr>
          <a:xfrm>
            <a:off x="7589520" y="3081528"/>
            <a:ext cx="4050792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7" name="Impact value ~0.3 s"/>
          <p:cNvSpPr txBox="1"/>
          <p:nvPr/>
        </p:nvSpPr>
        <p:spPr>
          <a:xfrm>
            <a:off x="7863840" y="324612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~0.3 s</a:t>
            </a:r>
            <a:endParaRPr lang="en-US" sz="1400" dirty="0"/>
          </a:p>
        </p:txBody>
      </p:sp>
      <p:sp>
        <p:nvSpPr>
          <p:cNvPr id="1018" name="Impact label ~0.3 s"/>
          <p:cNvSpPr txBox="1"/>
          <p:nvPr/>
        </p:nvSpPr>
        <p:spPr>
          <a:xfrm>
            <a:off x="7863840" y="3950208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per question, end to end, on a laptop CPU (median 224 to 321 ms)</a:t>
            </a:r>
            <a:endParaRPr lang="en-US" sz="1400" dirty="0"/>
          </a:p>
        </p:txBody>
      </p:sp>
      <p:sp>
        <p:nvSpPr>
          <p:cNvPr id="1019" name="Impact 0"/>
          <p:cNvSpPr/>
          <p:nvPr/>
        </p:nvSpPr>
        <p:spPr>
          <a:xfrm>
            <a:off x="7589520" y="4791456"/>
            <a:ext cx="4050792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20" name="Impact value 0"/>
          <p:cNvSpPr txBox="1"/>
          <p:nvPr/>
        </p:nvSpPr>
        <p:spPr>
          <a:xfrm>
            <a:off x="7863840" y="4956048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</a:t>
            </a:r>
            <a:endParaRPr lang="en-US" sz="1400" dirty="0"/>
          </a:p>
        </p:txBody>
      </p:sp>
      <p:sp>
        <p:nvSpPr>
          <p:cNvPr id="1021" name="Impact label 0"/>
          <p:cNvSpPr txBox="1"/>
          <p:nvPr/>
        </p:nvSpPr>
        <p:spPr>
          <a:xfrm>
            <a:off x="7863840" y="5660136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calls to hosted APIs: every model runs locally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Innovation highlights, results and limitations</a:t>
            </a:r>
            <a:endParaRPr lang="en-US" sz="3200" dirty="0"/>
          </a:p>
        </p:txBody>
      </p:sp>
      <p:sp>
        <p:nvSpPr>
          <p:cNvPr id="1001" name="Column INNOVATION"/>
          <p:cNvSpPr/>
          <p:nvPr/>
        </p:nvSpPr>
        <p:spPr>
          <a:xfrm>
            <a:off x="548640" y="1325880"/>
            <a:ext cx="3511296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2" name="Column tag INNOVATION"/>
          <p:cNvSpPr/>
          <p:nvPr/>
        </p:nvSpPr>
        <p:spPr>
          <a:xfrm>
            <a:off x="804672" y="15544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3EFF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INNOVATION</a:t>
            </a:r>
            <a:endParaRPr lang="en-US" sz="1400" dirty="0"/>
          </a:p>
        </p:txBody>
      </p:sp>
      <p:sp>
        <p:nvSpPr>
          <p:cNvPr id="1003" name="Innovation list"/>
          <p:cNvSpPr txBox="1"/>
          <p:nvPr/>
        </p:nvSpPr>
        <p:spPr>
          <a:xfrm>
            <a:off x="804672" y="2011680"/>
            <a:ext cx="3054096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One pool, two judges.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Gemma retrieves 50 candidates, jina-code re-scores them from stored vectors: one extra query encode.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Gated keyword lane.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BM25 joins only when the question names an identifier or message that exists in the code.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Weights fit across repos.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Chosen on one repository, tested on the other; both directions picked 0.7 and 0.25.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Test-aware scope.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Test files are filtered before the top-k unless the question asks for tests.</a:t>
            </a:r>
            <a:endParaRPr lang="en-US" sz="1400" dirty="0"/>
          </a:p>
        </p:txBody>
      </p:sp>
      <p:sp>
        <p:nvSpPr>
          <p:cNvPr id="1004" name="Column RESULTS"/>
          <p:cNvSpPr/>
          <p:nvPr/>
        </p:nvSpPr>
        <p:spPr>
          <a:xfrm>
            <a:off x="4338828" y="1325880"/>
            <a:ext cx="3511296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5" name="Column tag RESULTS"/>
          <p:cNvSpPr/>
          <p:nvPr/>
        </p:nvSpPr>
        <p:spPr>
          <a:xfrm>
            <a:off x="4594860" y="15544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RESULTS</a:t>
            </a:r>
            <a:endParaRPr lang="en-US" sz="1400" dirty="0"/>
          </a:p>
        </p:txBody>
      </p:sp>
      <p:sp>
        <p:nvSpPr>
          <p:cNvPr id="1006" name="Result value 88.61"/>
          <p:cNvSpPr txBox="1"/>
          <p:nvPr/>
        </p:nvSpPr>
        <p:spPr>
          <a:xfrm>
            <a:off x="4594860" y="2011680"/>
            <a:ext cx="30540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88.61</a:t>
            </a:r>
            <a:endParaRPr lang="en-US" sz="1400" dirty="0"/>
          </a:p>
        </p:txBody>
      </p:sp>
      <p:sp>
        <p:nvSpPr>
          <p:cNvPr id="1007" name="Result label 88.61"/>
          <p:cNvSpPr txBox="1"/>
          <p:nvPr/>
        </p:nvSpPr>
        <p:spPr>
          <a:xfrm>
            <a:off x="4594860" y="2468880"/>
            <a:ext cx="305409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NDCG@10 on AppsRetrieval test with MTEB's metrics (jina alone 83.86)</a:t>
            </a:r>
            <a:endParaRPr lang="en-US" sz="1400" dirty="0"/>
          </a:p>
        </p:txBody>
      </p:sp>
      <p:sp>
        <p:nvSpPr>
          <p:cNvPr id="1008" name="Result value 0.908"/>
          <p:cNvSpPr txBox="1"/>
          <p:nvPr/>
        </p:nvSpPr>
        <p:spPr>
          <a:xfrm>
            <a:off x="4594860" y="3090672"/>
            <a:ext cx="30540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0.908</a:t>
            </a:r>
            <a:endParaRPr lang="en-US" sz="1400" dirty="0"/>
          </a:p>
        </p:txBody>
      </p:sp>
      <p:sp>
        <p:nvSpPr>
          <p:cNvPr id="1009" name="Result label 0.908"/>
          <p:cNvSpPr txBox="1"/>
          <p:nvPr/>
        </p:nvSpPr>
        <p:spPr>
          <a:xfrm>
            <a:off x="4594860" y="3547872"/>
            <a:ext cx="305409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MRR@10 Node-RED, weights from BrowserOS (jina alone 0.848)</a:t>
            </a:r>
            <a:endParaRPr lang="en-US" sz="1400" dirty="0"/>
          </a:p>
        </p:txBody>
      </p:sp>
      <p:sp>
        <p:nvSpPr>
          <p:cNvPr id="1010" name="Result value 0.777"/>
          <p:cNvSpPr txBox="1"/>
          <p:nvPr/>
        </p:nvSpPr>
        <p:spPr>
          <a:xfrm>
            <a:off x="4594860" y="4169664"/>
            <a:ext cx="30540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0.777</a:t>
            </a:r>
            <a:endParaRPr lang="en-US" sz="1400" dirty="0"/>
          </a:p>
        </p:txBody>
      </p:sp>
      <p:sp>
        <p:nvSpPr>
          <p:cNvPr id="1011" name="Result label 0.777"/>
          <p:cNvSpPr txBox="1"/>
          <p:nvPr/>
        </p:nvSpPr>
        <p:spPr>
          <a:xfrm>
            <a:off x="4594860" y="4626864"/>
            <a:ext cx="305409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MRR@10 BrowserOS, weights from Node-RED (jina alone 0.734)</a:t>
            </a:r>
            <a:endParaRPr lang="en-US" sz="1400" dirty="0"/>
          </a:p>
        </p:txBody>
      </p:sp>
      <p:sp>
        <p:nvSpPr>
          <p:cNvPr id="1012" name="Result value ~0.3 s"/>
          <p:cNvSpPr txBox="1"/>
          <p:nvPr/>
        </p:nvSpPr>
        <p:spPr>
          <a:xfrm>
            <a:off x="4594860" y="5248656"/>
            <a:ext cx="30540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D4ED8"/>
                </a:solidFill>
                <a:latin typeface="Arial"/>
                <a:ea typeface="Arial"/>
                <a:cs typeface="Arial"/>
              </a:rPr>
              <a:t>~0.3 s</a:t>
            </a:r>
            <a:endParaRPr lang="en-US" sz="1400" dirty="0"/>
          </a:p>
        </p:txBody>
      </p:sp>
      <p:sp>
        <p:nvSpPr>
          <p:cNvPr id="1013" name="Result label ~0.3 s"/>
          <p:cNvSpPr txBox="1"/>
          <p:nvPr/>
        </p:nvSpPr>
        <p:spPr>
          <a:xfrm>
            <a:off x="4594860" y="5705856"/>
            <a:ext cx="305409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per question on a laptop CPU, both models</a:t>
            </a:r>
            <a:endParaRPr lang="en-US" sz="1400" dirty="0"/>
          </a:p>
        </p:txBody>
      </p:sp>
      <p:sp>
        <p:nvSpPr>
          <p:cNvPr id="1014" name="Column LIMITATIONS"/>
          <p:cNvSpPr/>
          <p:nvPr/>
        </p:nvSpPr>
        <p:spPr>
          <a:xfrm>
            <a:off x="8129016" y="1325880"/>
            <a:ext cx="3511296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5" name="Column tag LIMITATIONS"/>
          <p:cNvSpPr/>
          <p:nvPr/>
        </p:nvSpPr>
        <p:spPr>
          <a:xfrm>
            <a:off x="8385048" y="15544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LIMITATIONS</a:t>
            </a:r>
            <a:endParaRPr lang="en-US" sz="1400" dirty="0"/>
          </a:p>
        </p:txBody>
      </p:sp>
      <p:sp>
        <p:nvSpPr>
          <p:cNvPr id="1016" name="Limitation list"/>
          <p:cNvSpPr txBox="1"/>
          <p:nvPr/>
        </p:nvSpPr>
        <p:spPr>
          <a:xfrm>
            <a:off x="8385048" y="2011680"/>
            <a:ext cx="3054096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Official file is 83.83.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The fusion needs BM25 and re-scoring, which the plain-encoder format does not allow.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In-domain model.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jina-code was trained on AppsRetrieval's training split.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Small, exposed question sets.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50 per repo resolve only gaps of ~0.05 to 0.08 MRR; a fresh set is needed.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Cost of two models.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~3 GB in memory; no call graph and no version search yet.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Results: three systems, side by side</a:t>
            </a:r>
            <a:endParaRPr lang="en-US" sz="3200" dirty="0"/>
          </a:p>
        </p:txBody>
      </p:sp>
      <p:graphicFrame>
        <p:nvGraphicFramePr>
          <p:cNvPr id="1001" name="Systems table"/>
          <p:cNvGraphicFramePr>
            <a:graphicFrameLocks noGrp="1"/>
          </p:cNvGraphicFramePr>
          <p:nvPr/>
        </p:nvGraphicFramePr>
        <p:xfrm>
          <a:off x="548640" y="1325880"/>
          <a:ext cx="7635240" cy="4297680"/>
        </p:xfrm>
        <a:graphic>
          <a:graphicData uri="http://schemas.openxmlformats.org/drawingml/2006/table">
            <a:tbl>
              <a:tblPr firstRow="1"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6D28D9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6D28D9"/>
                          </a:solidFill>
                          <a:latin typeface="Arial"/>
                          <a:ea typeface="Arial"/>
                          <a:cs typeface="Arial"/>
                        </a:rPr>
                        <a:t>jina-code only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6D28D9"/>
                          </a:solidFill>
                          <a:latin typeface="Arial"/>
                          <a:ea typeface="Arial"/>
                          <a:cs typeface="Arial"/>
                        </a:rPr>
                        <a:t>Gemma only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3E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6D28D9"/>
                          </a:solidFill>
                          <a:latin typeface="Arial"/>
                          <a:ea typeface="Arial"/>
                          <a:cs typeface="Arial"/>
                        </a:rPr>
                        <a:t>Gemma + jina + BM25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3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AppsRetrieval NDCG@10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83.86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84.27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88.61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AppsRetrieval MRR@10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80.80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80.82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85.92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AppsRetrieval Recall@1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73.84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72.99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79.52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Node-RED MRR@10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0.848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0.801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0.908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Node-RED Recall@1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0.72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0.88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BrowserOS MRR@10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0.734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0.717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0.777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BrowserOS Recall@10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0.96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CPU p50, short question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85 to 96 ms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47 to 71 ms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224 to 321 ms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D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4142B"/>
                          </a:solidFill>
                          <a:latin typeface="Calibri"/>
                          <a:ea typeface="Calibri"/>
                          <a:cs typeface="Calibri"/>
                        </a:rPr>
                        <a:t>Models in memory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~2 GB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5B5B78"/>
                          </a:solidFill>
                          <a:latin typeface="Calibri"/>
                          <a:ea typeface="Calibri"/>
                          <a:cs typeface="Calibri"/>
                        </a:rPr>
                        <a:t>~1.2 GB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</a:rPr>
                        <a:t>~3 GB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02" name="Reading card"/>
          <p:cNvSpPr/>
          <p:nvPr/>
        </p:nvSpPr>
        <p:spPr>
          <a:xfrm>
            <a:off x="8458200" y="1325880"/>
            <a:ext cx="3182112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3" name="Label HOW TO READ THIS"/>
          <p:cNvSpPr txBox="1"/>
          <p:nvPr/>
        </p:nvSpPr>
        <p:spPr>
          <a:xfrm>
            <a:off x="86868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spc="200" dirty="0">
                <a:solidFill>
                  <a:srgbClr val="6D28D9"/>
                </a:solidFill>
                <a:latin typeface="Arial"/>
                <a:ea typeface="Arial"/>
                <a:cs typeface="Arial"/>
              </a:rPr>
              <a:t>HOW TO READ THIS</a:t>
            </a:r>
            <a:endParaRPr lang="en-US" sz="1400" dirty="0"/>
          </a:p>
        </p:txBody>
      </p:sp>
      <p:sp>
        <p:nvSpPr>
          <p:cNvPr id="1004" name="Reading notes"/>
          <p:cNvSpPr txBox="1"/>
          <p:nvPr/>
        </p:nvSpPr>
        <p:spPr>
          <a:xfrm>
            <a:off x="8686800" y="1920240"/>
            <a:ext cx="278892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AppsRetrieval: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3,765 test queries over 8,765 programs, scored with MTEB's metrics by our script; nothing tuned on this split.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Repositories: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50 labelled questions each; blend weights were chosen on the other repository.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Latency: </a:t>
            </a: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warm, one question at a time, GPU hidden, end to end.</a:t>
            </a:r>
            <a:endParaRPr lang="en-US" sz="1400" dirty="0"/>
          </a:p>
        </p:txBody>
      </p:sp>
      <p:sp>
        <p:nvSpPr>
          <p:cNvPr id="1005" name="Official note"/>
          <p:cNvSpPr/>
          <p:nvPr/>
        </p:nvSpPr>
        <p:spPr>
          <a:xfrm>
            <a:off x="548640" y="5806440"/>
            <a:ext cx="11091672" cy="594360"/>
          </a:xfrm>
          <a:prstGeom prst="roundRect">
            <a:avLst>
              <a:gd name="adj" fmla="val 12000"/>
            </a:avLst>
          </a:prstGeom>
          <a:solidFill>
            <a:srgbClr val="F7F6FB"/>
          </a:solidFill>
          <a:ln>
            <a:noFill/>
          </a:ln>
        </p:spPr>
        <p:txBody>
          <a:bodyPr wrap="square" lIns="228600" tIns="54864" rIns="228600" bIns="54864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Official submission file: </a:t>
            </a:r>
            <a:r>
              <a:rPr lang="en-US" sz="13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plain jina-code through mteb.evaluate, NDCG@10 83.83. A plain-encoder ensemble (0.7 jina + 0.3 Gemma, 87.35 in our scoring) fits the official format but has not been run through mteb.evaluate yet.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What’s next</a:t>
            </a:r>
            <a:endParaRPr lang="en-US" sz="3200" dirty="0"/>
          </a:p>
        </p:txBody>
      </p:sp>
      <p:cxnSp>
        <p:nvCxnSpPr>
          <p:cNvPr id="1001" name="Roadmap line"/>
          <p:cNvCxnSpPr/>
          <p:nvPr/>
        </p:nvCxnSpPr>
        <p:spPr>
          <a:xfrm>
            <a:off x="1581912" y="1920240"/>
            <a:ext cx="8997696" cy="0"/>
          </a:xfrm>
          <a:prstGeom prst="straightConnector1">
            <a:avLst/>
          </a:prstGeom>
          <a:ln w="25400">
            <a:solidFill>
              <a:srgbClr val="E2DDF3"/>
            </a:solidFill>
          </a:ln>
        </p:spPr>
      </p:cxnSp>
      <p:sp>
        <p:nvSpPr>
          <p:cNvPr id="1002" name="Roadmap badge 1"/>
          <p:cNvSpPr/>
          <p:nvPr/>
        </p:nvSpPr>
        <p:spPr>
          <a:xfrm>
            <a:off x="1307592" y="164592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en-US" sz="1400" dirty="0"/>
          </a:p>
        </p:txBody>
      </p:sp>
      <p:sp>
        <p:nvSpPr>
          <p:cNvPr id="1003" name="Roadmap card 1"/>
          <p:cNvSpPr/>
          <p:nvPr/>
        </p:nvSpPr>
        <p:spPr>
          <a:xfrm>
            <a:off x="548640" y="2514600"/>
            <a:ext cx="206654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4" name="Roadmap head 1"/>
          <p:cNvSpPr txBox="1"/>
          <p:nvPr/>
        </p:nvSpPr>
        <p:spPr>
          <a:xfrm>
            <a:off x="731520" y="2697480"/>
            <a:ext cx="170078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Official ensemble run</a:t>
            </a:r>
            <a:endParaRPr lang="en-US" sz="1400" dirty="0"/>
          </a:p>
        </p:txBody>
      </p:sp>
      <p:sp>
        <p:nvSpPr>
          <p:cNvPr id="1005" name="Roadmap body 1"/>
          <p:cNvSpPr txBox="1"/>
          <p:nvPr/>
        </p:nvSpPr>
        <p:spPr>
          <a:xfrm>
            <a:off x="731520" y="3474720"/>
            <a:ext cx="170078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Run the 0.7 jina + 0.3 Gemma plain-encoder ensemble (87.35 in our scoring) through mteb.evaluate.</a:t>
            </a:r>
            <a:endParaRPr lang="en-US" sz="1400" dirty="0"/>
          </a:p>
        </p:txBody>
      </p:sp>
      <p:sp>
        <p:nvSpPr>
          <p:cNvPr id="1006" name="Roadmap badge 2"/>
          <p:cNvSpPr/>
          <p:nvPr/>
        </p:nvSpPr>
        <p:spPr>
          <a:xfrm>
            <a:off x="3557016" y="1645920"/>
            <a:ext cx="548640" cy="5486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1400" dirty="0"/>
          </a:p>
        </p:txBody>
      </p:sp>
      <p:sp>
        <p:nvSpPr>
          <p:cNvPr id="1007" name="Roadmap card 2"/>
          <p:cNvSpPr/>
          <p:nvPr/>
        </p:nvSpPr>
        <p:spPr>
          <a:xfrm>
            <a:off x="2798064" y="2514600"/>
            <a:ext cx="206654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8" name="Roadmap head 2"/>
          <p:cNvSpPr txBox="1"/>
          <p:nvPr/>
        </p:nvSpPr>
        <p:spPr>
          <a:xfrm>
            <a:off x="2980944" y="2697480"/>
            <a:ext cx="170078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Fresh question set</a:t>
            </a:r>
            <a:endParaRPr lang="en-US" sz="1400" dirty="0"/>
          </a:p>
        </p:txBody>
      </p:sp>
      <p:sp>
        <p:nvSpPr>
          <p:cNvPr id="1009" name="Roadmap body 2"/>
          <p:cNvSpPr txBox="1"/>
          <p:nvPr/>
        </p:nvSpPr>
        <p:spPr>
          <a:xfrm>
            <a:off x="2980944" y="3474720"/>
            <a:ext cx="170078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Both labelled sets have been seen; write a third, blind set before any final claim.</a:t>
            </a:r>
            <a:endParaRPr lang="en-US" sz="1400" dirty="0"/>
          </a:p>
        </p:txBody>
      </p:sp>
      <p:sp>
        <p:nvSpPr>
          <p:cNvPr id="1010" name="Roadmap badge 3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1400" dirty="0"/>
          </a:p>
        </p:txBody>
      </p:sp>
      <p:sp>
        <p:nvSpPr>
          <p:cNvPr id="1011" name="Roadmap card 3"/>
          <p:cNvSpPr/>
          <p:nvPr/>
        </p:nvSpPr>
        <p:spPr>
          <a:xfrm>
            <a:off x="5047488" y="2514600"/>
            <a:ext cx="206654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2" name="Roadmap head 3"/>
          <p:cNvSpPr txBox="1"/>
          <p:nvPr/>
        </p:nvSpPr>
        <p:spPr>
          <a:xfrm>
            <a:off x="5230368" y="2697480"/>
            <a:ext cx="170078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Version-aware index</a:t>
            </a:r>
            <a:endParaRPr lang="en-US" sz="1400" dirty="0"/>
          </a:p>
        </p:txBody>
      </p:sp>
      <p:sp>
        <p:nvSpPr>
          <p:cNvPr id="1013" name="Roadmap body 3"/>
          <p:cNvSpPr txBox="1"/>
          <p:nvPr/>
        </p:nvSpPr>
        <p:spPr>
          <a:xfrm>
            <a:off x="5230368" y="3474720"/>
            <a:ext cx="170078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P1: per-commit manifests; “as of commit X” rebuilds a small exact index from cached vectors.</a:t>
            </a:r>
            <a:endParaRPr lang="en-US" sz="1400" dirty="0"/>
          </a:p>
        </p:txBody>
      </p:sp>
      <p:sp>
        <p:nvSpPr>
          <p:cNvPr id="1014" name="Roadmap badge 4"/>
          <p:cNvSpPr/>
          <p:nvPr/>
        </p:nvSpPr>
        <p:spPr>
          <a:xfrm>
            <a:off x="8055864" y="1645920"/>
            <a:ext cx="548640" cy="54864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lang="en-US" sz="1400" dirty="0"/>
          </a:p>
        </p:txBody>
      </p:sp>
      <p:sp>
        <p:nvSpPr>
          <p:cNvPr id="1015" name="Roadmap card 4"/>
          <p:cNvSpPr/>
          <p:nvPr/>
        </p:nvSpPr>
        <p:spPr>
          <a:xfrm>
            <a:off x="7296912" y="2514600"/>
            <a:ext cx="206654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6" name="Roadmap head 4"/>
          <p:cNvSpPr txBox="1"/>
          <p:nvPr/>
        </p:nvSpPr>
        <p:spPr>
          <a:xfrm>
            <a:off x="7479792" y="2697480"/>
            <a:ext cx="170078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Evolutionary retrieval</a:t>
            </a:r>
            <a:endParaRPr lang="en-US" sz="1400" dirty="0"/>
          </a:p>
        </p:txBody>
      </p:sp>
      <p:sp>
        <p:nvSpPr>
          <p:cNvPr id="1017" name="Roadmap body 4"/>
          <p:cNvSpPr txBox="1"/>
          <p:nvPr/>
        </p:nvSpPr>
        <p:spPr>
          <a:xfrm>
            <a:off x="7479792" y="3474720"/>
            <a:ext cx="170078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Bonus: group near-identical units across commits; newest first, older versions expandable.</a:t>
            </a:r>
            <a:endParaRPr lang="en-US" sz="1400" dirty="0"/>
          </a:p>
        </p:txBody>
      </p:sp>
      <p:sp>
        <p:nvSpPr>
          <p:cNvPr id="1018" name="Roadmap badge 5"/>
          <p:cNvSpPr/>
          <p:nvPr/>
        </p:nvSpPr>
        <p:spPr>
          <a:xfrm>
            <a:off x="10305288" y="164592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en-US" sz="1400" dirty="0"/>
          </a:p>
        </p:txBody>
      </p:sp>
      <p:sp>
        <p:nvSpPr>
          <p:cNvPr id="1019" name="Roadmap card 5"/>
          <p:cNvSpPr/>
          <p:nvPr/>
        </p:nvSpPr>
        <p:spPr>
          <a:xfrm>
            <a:off x="9546336" y="2514600"/>
            <a:ext cx="206654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20" name="Roadmap head 5"/>
          <p:cNvSpPr txBox="1"/>
          <p:nvPr/>
        </p:nvSpPr>
        <p:spPr>
          <a:xfrm>
            <a:off x="9729216" y="2697480"/>
            <a:ext cx="170078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Structural queries</a:t>
            </a:r>
            <a:endParaRPr lang="en-US" sz="1400" dirty="0"/>
          </a:p>
        </p:txBody>
      </p:sp>
      <p:sp>
        <p:nvSpPr>
          <p:cNvPr id="1021" name="Roadmap body 5"/>
          <p:cNvSpPr txBox="1"/>
          <p:nvPr/>
        </p:nvSpPr>
        <p:spPr>
          <a:xfrm>
            <a:off x="9729216" y="3474720"/>
            <a:ext cx="170078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Tree-sitter call and definition facts for questions like “who calls A before B”.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Brownie points (differentiation)</a:t>
            </a:r>
            <a:endParaRPr lang="en-US" sz="3200" dirty="0"/>
          </a:p>
        </p:txBody>
      </p:sp>
      <p:sp>
        <p:nvSpPr>
          <p:cNvPr id="1001" name="Card KEPT, BECAUSE IT MEASURED BETTER"/>
          <p:cNvSpPr/>
          <p:nvPr/>
        </p:nvSpPr>
        <p:spPr>
          <a:xfrm>
            <a:off x="548640" y="132588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2" name="Tag KEPT, BECAUSE IT MEASURED BETTER"/>
          <p:cNvSpPr/>
          <p:nvPr/>
        </p:nvSpPr>
        <p:spPr>
          <a:xfrm>
            <a:off x="822960" y="1554480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E1F4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KEPT, BECAUSE IT MEASURED BETTER</a:t>
            </a:r>
            <a:endParaRPr lang="en-US" sz="1400" dirty="0"/>
          </a:p>
        </p:txBody>
      </p:sp>
      <p:sp>
        <p:nvSpPr>
          <p:cNvPr id="1003" name="List KEPT, BECAUSE IT MEASURED BETTER"/>
          <p:cNvSpPr txBox="1"/>
          <p:nvPr/>
        </p:nvSpPr>
        <p:spPr>
          <a:xfrm>
            <a:off x="822960" y="210312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Gated BM25 lane: </a:t>
            </a:r>
            <a:r>
              <a:rPr lang="en-US" sz="15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Node-RED MRR@10 0.755 to 0.845; 8 questions better, none worse</a:t>
            </a:r>
            <a:endParaRPr lang="en-US" sz="1400" dirty="0"/>
          </a:p>
          <a:p>
            <a:pPr marL="219456" indent="-21945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Test-file scope: </a:t>
            </a:r>
            <a:r>
              <a:rPr lang="en-US" sz="15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BrowserOS Recall@10 0.88 to 0.96</a:t>
            </a:r>
            <a:endParaRPr lang="en-US" sz="1400" dirty="0"/>
          </a:p>
          <a:p>
            <a:pPr marL="219456" indent="-21945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Skipping .d.ts files: </a:t>
            </a:r>
            <a:r>
              <a:rPr lang="en-US" sz="15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vendored typings had pushed real code out of the top 10</a:t>
            </a:r>
            <a:endParaRPr lang="en-US" sz="1400" dirty="0"/>
          </a:p>
          <a:p>
            <a:pPr marL="219456" indent="-21945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Gemma + jina blend: </a:t>
            </a:r>
            <a:r>
              <a:rPr lang="en-US" sz="15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beats jina alone on both repos with weights from the other</a:t>
            </a:r>
            <a:endParaRPr lang="en-US" sz="1400" dirty="0"/>
          </a:p>
        </p:txBody>
      </p:sp>
      <p:sp>
        <p:nvSpPr>
          <p:cNvPr id="1004" name="Card DROPPED, BECAUSE IT DID NOT"/>
          <p:cNvSpPr/>
          <p:nvPr/>
        </p:nvSpPr>
        <p:spPr>
          <a:xfrm>
            <a:off x="6199632" y="132588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5" name="Tag DROPPED, BECAUSE IT DID NOT"/>
          <p:cNvSpPr/>
          <p:nvPr/>
        </p:nvSpPr>
        <p:spPr>
          <a:xfrm>
            <a:off x="6473952" y="1554480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150" dirty="0">
                <a:solidFill>
                  <a:srgbClr val="C2410C"/>
                </a:solidFill>
                <a:latin typeface="Arial"/>
                <a:ea typeface="Arial"/>
                <a:cs typeface="Arial"/>
              </a:rPr>
              <a:t>DROPPED, BECAUSE IT DID NOT</a:t>
            </a:r>
            <a:endParaRPr lang="en-US" sz="1400" dirty="0"/>
          </a:p>
        </p:txBody>
      </p:sp>
      <p:sp>
        <p:nvSpPr>
          <p:cNvPr id="1006" name="List DROPPED, BECAUSE IT DID NOT"/>
          <p:cNvSpPr txBox="1"/>
          <p:nvPr/>
        </p:nvSpPr>
        <p:spPr>
          <a:xfrm>
            <a:off x="6473952" y="210312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ct val="100000"/>
              <a:buFont typeface="Arial"/>
              <a:buChar char="•"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BM25 on the benchmark: </a:t>
            </a:r>
            <a:r>
              <a:rPr lang="en-US" sz="15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about -11 NDCG@10 on problem statements</a:t>
            </a:r>
            <a:endParaRPr lang="en-US" sz="1400" dirty="0"/>
          </a:p>
          <a:p>
            <a:pPr marL="219456" indent="-21945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2410C"/>
              </a:buClr>
              <a:buSzPct val="100000"/>
              <a:buFont typeface="Arial"/>
              <a:buChar char="•"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Signature header on split code: </a:t>
            </a:r>
            <a:r>
              <a:rPr lang="en-US" sz="15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lower MRR in every combination</a:t>
            </a:r>
            <a:endParaRPr lang="en-US" sz="1400" dirty="0"/>
          </a:p>
          <a:p>
            <a:pPr marL="219456" indent="-21945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2410C"/>
              </a:buClr>
              <a:buSzPct val="100000"/>
              <a:buFont typeface="Arial"/>
              <a:buChar char="•"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Merging fragments &lt; 150 chars: </a:t>
            </a:r>
            <a:r>
              <a:rPr lang="en-US" sz="15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registration MRR 0.929 to 0.607</a:t>
            </a:r>
            <a:endParaRPr lang="en-US" sz="1400" dirty="0"/>
          </a:p>
          <a:p>
            <a:pPr marL="219456" indent="-21945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2410C"/>
              </a:buClr>
              <a:buSzPct val="100000"/>
              <a:buFont typeface="Arial"/>
              <a:buChar char="•"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Cross-encoder or LightGBM reranker: </a:t>
            </a:r>
            <a:r>
              <a:rPr lang="en-US" sz="15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no trustworthy training data, seconds per query</a:t>
            </a:r>
            <a:endParaRPr lang="en-US" sz="1400" dirty="0"/>
          </a:p>
          <a:p>
            <a:pPr marL="219456" indent="-21945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2410C"/>
              </a:buClr>
              <a:buSzPct val="100000"/>
              <a:buFont typeface="Arial"/>
              <a:buChar char="•"/>
            </a:pPr>
            <a:r>
              <a:rPr lang="en-US" sz="15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int8 OpenVINO serving: </a:t>
            </a:r>
            <a:r>
              <a:rPr lang="en-US" sz="15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3.3x faster, but not needed at these latencies</a:t>
            </a:r>
            <a:endParaRPr lang="en-US" sz="1400" dirty="0"/>
          </a:p>
        </p:txBody>
      </p:sp>
      <p:sp>
        <p:nvSpPr>
          <p:cNvPr id="1007" name="Rigor strip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14142B"/>
          </a:solidFill>
          <a:ln>
            <a:noFill/>
          </a:ln>
        </p:spPr>
        <p:txBody>
          <a:bodyPr wrap="square" lIns="274320" tIns="73152" rIns="27432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experiment is logged with its expectation, result and conclusion. </a:t>
            </a:r>
            <a:r>
              <a:rPr lang="en-US" sz="1300" b="0" i="0" dirty="0">
                <a:solidFill>
                  <a:srgbClr val="D6D3EA"/>
                </a:solidFill>
                <a:latin typeface="Calibri"/>
                <a:ea typeface="Calibri"/>
                <a:cs typeface="Calibri"/>
              </a:rPr>
              <a:t>Questions were labelled before results were seen, weights are tested on a repository they were not fit on, and the dataset fields that leak the answer are never read.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Checklist - Updated on Public GitHub</a:t>
            </a:r>
            <a:endParaRPr lang="en-US" sz="3200" dirty="0"/>
          </a:p>
        </p:txBody>
      </p:sp>
      <p:sp>
        <p:nvSpPr>
          <p:cNvPr id="1001" name="Check row 1"/>
          <p:cNvSpPr/>
          <p:nvPr/>
        </p:nvSpPr>
        <p:spPr>
          <a:xfrm>
            <a:off x="548640" y="1417320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2" name="Check mark 1"/>
          <p:cNvSpPr/>
          <p:nvPr/>
        </p:nvSpPr>
        <p:spPr>
          <a:xfrm>
            <a:off x="822960" y="166420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</a:t>
            </a:r>
            <a:endParaRPr lang="en-US" sz="1400" dirty="0"/>
          </a:p>
        </p:txBody>
      </p:sp>
      <p:sp>
        <p:nvSpPr>
          <p:cNvPr id="1003" name="Check item 1"/>
          <p:cNvSpPr txBox="1"/>
          <p:nvPr/>
        </p:nvSpPr>
        <p:spPr>
          <a:xfrm>
            <a:off x="1600200" y="1554480"/>
            <a:ext cx="6309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Working prototype code: public or shared GitHub repo</a:t>
            </a:r>
            <a:endParaRPr lang="en-US" sz="1400" dirty="0"/>
          </a:p>
        </p:txBody>
      </p:sp>
      <p:sp>
        <p:nvSpPr>
          <p:cNvPr id="1004" name="Check detail 1"/>
          <p:cNvSpPr txBox="1"/>
          <p:nvPr/>
        </p:nvSpPr>
        <p:spPr>
          <a:xfrm>
            <a:off x="7955280" y="155448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D4ED8"/>
                </a:solidFill>
                <a:latin typeface="Calibri"/>
                <a:ea typeface="Calibri"/>
                <a:cs typeface="Calibri"/>
                <a:hlinkClick r:id="rId3"/>
              </a:rPr>
              <a:t>github.com/utkrshm/agentic-retrieval</a:t>
            </a:r>
            <a:endParaRPr lang="en-US" sz="1400" dirty="0"/>
          </a:p>
        </p:txBody>
      </p:sp>
      <p:sp>
        <p:nvSpPr>
          <p:cNvPr id="1005" name="Check row 2"/>
          <p:cNvSpPr/>
          <p:nvPr/>
        </p:nvSpPr>
        <p:spPr>
          <a:xfrm>
            <a:off x="548640" y="2606040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06" name="Check mark 2"/>
          <p:cNvSpPr/>
          <p:nvPr/>
        </p:nvSpPr>
        <p:spPr>
          <a:xfrm>
            <a:off x="822960" y="285292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</a:t>
            </a:r>
            <a:endParaRPr lang="en-US" sz="1400" dirty="0"/>
          </a:p>
        </p:txBody>
      </p:sp>
      <p:sp>
        <p:nvSpPr>
          <p:cNvPr id="1007" name="Check item 2"/>
          <p:cNvSpPr txBox="1"/>
          <p:nvPr/>
        </p:nvSpPr>
        <p:spPr>
          <a:xfrm>
            <a:off x="1600200" y="2743200"/>
            <a:ext cx="6309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README with reproducible setup instructions</a:t>
            </a:r>
            <a:endParaRPr lang="en-US" sz="1400" dirty="0"/>
          </a:p>
        </p:txBody>
      </p:sp>
      <p:sp>
        <p:nvSpPr>
          <p:cNvPr id="1008" name="Check detail 2"/>
          <p:cNvSpPr txBox="1"/>
          <p:nvPr/>
        </p:nvSpPr>
        <p:spPr>
          <a:xfrm>
            <a:off x="7955280" y="27432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In the repository</a:t>
            </a:r>
            <a:endParaRPr lang="en-US" sz="1400" dirty="0"/>
          </a:p>
        </p:txBody>
      </p:sp>
      <p:sp>
        <p:nvSpPr>
          <p:cNvPr id="1009" name="Check row 3"/>
          <p:cNvSpPr/>
          <p:nvPr/>
        </p:nvSpPr>
        <p:spPr>
          <a:xfrm>
            <a:off x="548640" y="3794760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0" name="Check mark 3"/>
          <p:cNvSpPr/>
          <p:nvPr/>
        </p:nvSpPr>
        <p:spPr>
          <a:xfrm>
            <a:off x="822960" y="404164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</a:t>
            </a:r>
            <a:endParaRPr lang="en-US" sz="1400" dirty="0"/>
          </a:p>
        </p:txBody>
      </p:sp>
      <p:sp>
        <p:nvSpPr>
          <p:cNvPr id="1011" name="Check item 3"/>
          <p:cNvSpPr txBox="1"/>
          <p:nvPr/>
        </p:nvSpPr>
        <p:spPr>
          <a:xfrm>
            <a:off x="1600200" y="3931920"/>
            <a:ext cx="6309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Demo video, max 5 minutes (YouTube or Drive link)</a:t>
            </a:r>
            <a:endParaRPr lang="en-US" sz="1400" dirty="0"/>
          </a:p>
        </p:txBody>
      </p:sp>
      <p:sp>
        <p:nvSpPr>
          <p:cNvPr id="1012" name="Check detail 3"/>
          <p:cNvSpPr txBox="1"/>
          <p:nvPr/>
        </p:nvSpPr>
        <p:spPr>
          <a:xfrm>
            <a:off x="7955280" y="39319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https://www.loom.com/share/</a:t>
            </a:r>
            <a:r>
              <a:rPr lang="en-US" dirty="0">
                <a:solidFill>
                  <a:srgbClr val="5B5B78"/>
                </a:solidFill>
                <a:latin typeface="Calibri"/>
                <a:ea typeface="Calibri"/>
                <a:cs typeface="Calibri"/>
                <a:hlinkClick r:id="rId4"/>
              </a:rPr>
              <a:t>d2efb905b1b04ebb873c2b4f3b7672c1</a:t>
            </a:r>
            <a:endParaRPr lang="en-US" sz="1400" dirty="0"/>
          </a:p>
        </p:txBody>
      </p:sp>
      <p:sp>
        <p:nvSpPr>
          <p:cNvPr id="1013" name="Check row 4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>
            <a:outerShdw blurRad="114300" dist="25400" dir="5400000" algn="t" rotWithShape="0">
              <a:srgbClr val="1E1B4B">
                <a:alpha val="8000"/>
              </a:srgb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</p:txBody>
      </p:sp>
      <p:sp>
        <p:nvSpPr>
          <p:cNvPr id="1014" name="Check mark 4"/>
          <p:cNvSpPr/>
          <p:nvPr/>
        </p:nvSpPr>
        <p:spPr>
          <a:xfrm>
            <a:off x="822960" y="523036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</a:t>
            </a:r>
            <a:endParaRPr lang="en-US" sz="1400" dirty="0"/>
          </a:p>
        </p:txBody>
      </p:sp>
      <p:sp>
        <p:nvSpPr>
          <p:cNvPr id="1015" name="Check item 4"/>
          <p:cNvSpPr txBox="1"/>
          <p:nvPr/>
        </p:nvSpPr>
        <p:spPr>
          <a:xfrm>
            <a:off x="1600200" y="5120640"/>
            <a:ext cx="6309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4142B"/>
                </a:solidFill>
                <a:latin typeface="Calibri"/>
                <a:ea typeface="Calibri"/>
                <a:cs typeface="Calibri"/>
              </a:rPr>
              <a:t>Presentation file (PPT or PDF)</a:t>
            </a:r>
            <a:endParaRPr lang="en-US" sz="1400" dirty="0"/>
          </a:p>
        </p:txBody>
      </p:sp>
      <p:sp>
        <p:nvSpPr>
          <p:cNvPr id="1016" name="Check detail 4"/>
          <p:cNvSpPr txBox="1"/>
          <p:nvPr/>
        </p:nvSpPr>
        <p:spPr>
          <a:xfrm>
            <a:off x="7955280" y="512064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This deck</a:t>
            </a:r>
            <a:endParaRPr lang="en-US" sz="1400" dirty="0"/>
          </a:p>
        </p:txBody>
      </p:sp>
      <p:sp>
        <p:nvSpPr>
          <p:cNvPr id="1017" name="Check footnote"/>
          <p:cNvSpPr txBox="1"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5B78"/>
                </a:solidFill>
                <a:latin typeface="Calibri"/>
                <a:ea typeface="Calibri"/>
                <a:cs typeface="Calibri"/>
              </a:rPr>
              <a:t>Theme 01 · SundayWasters · VIT Vellore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Team line"/>
          <p:cNvSpPr txBox="1"/>
          <p:nvPr/>
        </p:nvSpPr>
        <p:spPr>
          <a:xfrm>
            <a:off x="1046074" y="4572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SundayWasters · VIT Vellore</a:t>
            </a:r>
            <a:endParaRPr lang="en-US" sz="1400" dirty="0"/>
          </a:p>
        </p:txBody>
      </p:sp>
      <p:sp>
        <p:nvSpPr>
          <p:cNvPr id="1002" name="Repo line"/>
          <p:cNvSpPr txBox="1"/>
          <p:nvPr/>
        </p:nvSpPr>
        <p:spPr>
          <a:xfrm>
            <a:off x="1046074" y="4937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D4ED8"/>
                </a:solidFill>
                <a:latin typeface="Calibri"/>
                <a:ea typeface="Calibri"/>
                <a:cs typeface="Calibri"/>
                <a:hlinkClick r:id="rId3"/>
              </a:rPr>
              <a:t>github.com/utkrshm/agentic-retrieval</a:t>
            </a:r>
            <a:endParaRPr lang="en-US" sz="1400" dirty="0"/>
          </a:p>
        </p:txBody>
      </p:sp>
      <p:pic>
        <p:nvPicPr>
          <p:cNvPr id="1003" name="Network art" descr="Network illus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105156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2251</Words>
  <Application>Microsoft Office PowerPoint</Application>
  <PresentationFormat>Widescreen</PresentationFormat>
  <Paragraphs>283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Theme 01 · Agentic Code Intelligence</vt:lpstr>
      <vt:lpstr>Existing Solutions &amp; Gaps</vt:lpstr>
      <vt:lpstr>Our Solutions &amp; Architecture Diagram</vt:lpstr>
      <vt:lpstr>How a question is answered (CPU, fp32)</vt:lpstr>
      <vt:lpstr>Demo &amp; Product Walkthrough</vt:lpstr>
      <vt:lpstr>Tools and tech stack used</vt:lpstr>
      <vt:lpstr>Impact &amp; Use case</vt:lpstr>
      <vt:lpstr>Innovation highlights, results and limitations</vt:lpstr>
      <vt:lpstr>Results: three systems, side by side</vt:lpstr>
      <vt:lpstr>What’s next</vt:lpstr>
      <vt:lpstr>Brownie points (differentiation)</vt:lpstr>
      <vt:lpstr>Checklist 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kritik shrma</cp:lastModifiedBy>
  <cp:revision>1</cp:revision>
  <dcterms:created xsi:type="dcterms:W3CDTF">2026-09-07T12:01:01Z</dcterms:created>
  <dcterms:modified xsi:type="dcterms:W3CDTF">2026-10-04T18:29:54Z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